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70" r:id="rId5"/>
    <p:sldId id="259" r:id="rId6"/>
    <p:sldId id="279" r:id="rId7"/>
    <p:sldId id="260" r:id="rId8"/>
    <p:sldId id="261" r:id="rId9"/>
    <p:sldId id="271" r:id="rId10"/>
    <p:sldId id="273" r:id="rId11"/>
    <p:sldId id="275" r:id="rId12"/>
    <p:sldId id="264" r:id="rId13"/>
    <p:sldId id="276" r:id="rId14"/>
    <p:sldId id="265" r:id="rId15"/>
    <p:sldId id="278" r:id="rId16"/>
    <p:sldId id="268" r:id="rId17"/>
    <p:sldId id="267" r:id="rId18"/>
  </p:sldIdLst>
  <p:sldSz cx="9144000" cy="5143500" type="screen16x9"/>
  <p:notesSz cx="6858000" cy="9144000"/>
  <p:embeddedFontLst>
    <p:embeddedFont>
      <p:font typeface="Economica" panose="020B060402020202020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870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6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48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964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105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022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3102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62201" y="772297"/>
            <a:ext cx="4447967" cy="19276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err="1"/>
              <a:t>Програмна</a:t>
            </a:r>
            <a:r>
              <a:rPr lang="ru-RU" sz="2400" dirty="0"/>
              <a:t> система для центру </a:t>
            </a:r>
            <a:r>
              <a:rPr lang="ru-RU" sz="2400" dirty="0" err="1"/>
              <a:t>дитячого</a:t>
            </a:r>
            <a:r>
              <a:rPr lang="ru-RU" sz="2400" dirty="0"/>
              <a:t> </a:t>
            </a:r>
            <a:r>
              <a:rPr lang="ru-RU" sz="2400" dirty="0" err="1"/>
              <a:t>розвитку</a:t>
            </a:r>
            <a:r>
              <a:rPr lang="ru-RU" sz="2400" dirty="0"/>
              <a:t>. Веб-</a:t>
            </a:r>
            <a:r>
              <a:rPr lang="ru-RU" sz="2400" dirty="0" err="1"/>
              <a:t>застосунок</a:t>
            </a:r>
            <a:r>
              <a:rPr lang="ru-RU" sz="2400" dirty="0"/>
              <a:t> та </a:t>
            </a:r>
            <a:r>
              <a:rPr lang="ru-RU" sz="2400" dirty="0" err="1"/>
              <a:t>мобільний</a:t>
            </a:r>
            <a:r>
              <a:rPr lang="ru-RU" sz="2400" dirty="0"/>
              <a:t> </a:t>
            </a:r>
            <a:r>
              <a:rPr lang="ru-RU" sz="2400" dirty="0" err="1"/>
              <a:t>додаток</a:t>
            </a:r>
            <a:r>
              <a:rPr lang="ru-RU" sz="2400" dirty="0"/>
              <a:t> для </a:t>
            </a:r>
            <a:r>
              <a:rPr lang="ru-RU" sz="2400" dirty="0" err="1"/>
              <a:t>Android</a:t>
            </a:r>
            <a:r>
              <a:rPr lang="ru-RU" sz="2400" dirty="0"/>
              <a:t>. </a:t>
            </a:r>
            <a:r>
              <a:rPr lang="ru-RU" sz="2400" dirty="0" err="1"/>
              <a:t>Бекенд</a:t>
            </a:r>
            <a:endParaRPr lang="uk-UA"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404553" y="359315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Зозуля Олена Юріївна, ПЗПІ-22-1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</a:t>
            </a:r>
            <a:r>
              <a:rPr lang="uk-UA" dirty="0"/>
              <a:t>доц. каф. ПІ </a:t>
            </a:r>
            <a:r>
              <a:rPr lang="uk-UA" dirty="0" err="1"/>
              <a:t>Мельнікова</a:t>
            </a:r>
            <a:r>
              <a:rPr lang="uk-UA" dirty="0"/>
              <a:t> Роксана Валеріївна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	10 </a:t>
            </a:r>
            <a:r>
              <a:rPr lang="uk"/>
              <a:t>липня 2026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747584"/>
            <a:ext cx="8466540" cy="3611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Aft>
                <a:spcPts val="800"/>
              </a:spcAft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</a:t>
            </a:r>
            <a:r>
              <a:rPr lang="uk-UA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комплексної роботи 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проєктування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реалізація програмної системи «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ChildSpace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автоматизації процесів управління, обліку та комунікації в центрах дитячого розвитку, що об’єднує серверну частину, веб-клієнт і мобільний застосунок.</a:t>
            </a:r>
          </a:p>
          <a:p>
            <a:pPr marL="0" lvl="0" indent="0" algn="just" rtl="0">
              <a:lnSpc>
                <a:spcPct val="100000"/>
              </a:lnSpc>
              <a:spcAft>
                <a:spcPts val="800"/>
              </a:spcAft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 </a:t>
            </a:r>
            <a:r>
              <a:rPr lang="uk-UA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даної роботи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проєктування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розробка серверної частини програмної системи, реляційної бази даних та реалізація частини функціоналу мобільного застосунку для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0" lvl="0" indent="0" algn="just" rtl="0">
              <a:lnSpc>
                <a:spcPct val="100000"/>
              </a:lnSpc>
              <a:spcAft>
                <a:spcPts val="800"/>
              </a:spcAft>
              <a:buNone/>
            </a:pPr>
            <a:r>
              <a:rPr lang="uk-UA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Актуальність.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Багато центрів дитячого розвитку використовують паперовий документообіг і розрізнені засоби комунікації, що ускладнює управління та обмін інформацією. Впровадження єдиної системи забезпечує централізацію даних, підвищує ефективність роботи персоналу та покращує взаємодію між учасниками освітнього процесу.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проблеми. Аналоги системи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578071"/>
            <a:ext cx="4289429" cy="36907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spcBef>
                <a:spcPts val="1500"/>
              </a:spcBef>
              <a:buFont typeface="Open Sans" panose="020B0606030504020204" pitchFamily="34" charset="0"/>
              <a:buChar char="–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Brightwheel – 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хмарна платформа для автоматизації роботи дитячих садків і центрів раннього розвитку. Орієнтована на ринок США</a:t>
            </a: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 algn="just">
              <a:spcBef>
                <a:spcPts val="1500"/>
              </a:spcBef>
              <a:buFont typeface="Open Sans" panose="020B0606030504020204" pitchFamily="34" charset="0"/>
              <a:buChar char="–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</a:rPr>
              <a:t>School Today –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українська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платформа для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управління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освітніми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закладами.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Переважно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орієнтована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на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школи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та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великі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навчальні</a:t>
            </a:r>
            <a:r>
              <a:rPr lang="ru-RU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ru-RU" dirty="0" err="1">
                <a:solidFill>
                  <a:srgbClr val="0D0D0D"/>
                </a:solidFill>
                <a:highlight>
                  <a:srgbClr val="FFFFFF"/>
                </a:highlight>
              </a:rPr>
              <a:t>заклади</a:t>
            </a:r>
            <a:r>
              <a:rPr lang="uk-UA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dirty="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pic>
        <p:nvPicPr>
          <p:cNvPr id="1026" name="Picture 2" descr="Why brightwheel | Leading The Way In Childcare Management">
            <a:extLst>
              <a:ext uri="{FF2B5EF4-FFF2-40B4-BE49-F238E27FC236}">
                <a16:creationId xmlns:a16="http://schemas.microsoft.com/office/drawing/2014/main" id="{FEBB2BAD-648F-4DE7-8745-667111381E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2" t="10588" r="5787"/>
          <a:stretch/>
        </p:blipFill>
        <p:spPr bwMode="auto">
          <a:xfrm>
            <a:off x="4817801" y="668705"/>
            <a:ext cx="3713349" cy="217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FF0FE3-21D2-41E6-AAA2-5B5C27838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801" y="2848127"/>
            <a:ext cx="3713349" cy="2129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проблеми. Аналіз недоліків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268925" y="772297"/>
            <a:ext cx="8509315" cy="4092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Brightwheel</a:t>
            </a:r>
            <a:r>
              <a:rPr lang="uk-UA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має перевантажений інтерфейс і складну навігацію, обмежені можливості комунікації між користувачами, відсутню локалізацію під український ринок</a:t>
            </a: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  <a:endParaRPr lang="uk-UA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School Today</a:t>
            </a:r>
            <a:r>
              <a:rPr lang="uk-UA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характеризується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надлишковим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складним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функціоналом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невеликих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центрів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перевантаженим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інтерфейсом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а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також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складністю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впровадження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у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малих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навчальних</a:t>
            </a:r>
            <a:r>
              <a:rPr lang="ru-RU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закладах.</a:t>
            </a:r>
          </a:p>
          <a:p>
            <a:pPr marL="0" indent="0" algn="just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dirty="0"/>
              <a:t>Проблема: </a:t>
            </a:r>
            <a:r>
              <a:rPr lang="ru-RU" dirty="0" err="1"/>
              <a:t>відсутність</a:t>
            </a:r>
            <a:r>
              <a:rPr lang="ru-RU" dirty="0"/>
              <a:t> </a:t>
            </a:r>
            <a:r>
              <a:rPr lang="ru-RU" dirty="0" err="1"/>
              <a:t>єдиного</a:t>
            </a:r>
            <a:r>
              <a:rPr lang="ru-RU" dirty="0"/>
              <a:t> цифрового </a:t>
            </a:r>
            <a:r>
              <a:rPr lang="ru-RU" dirty="0" err="1"/>
              <a:t>середовища</a:t>
            </a:r>
            <a:r>
              <a:rPr lang="ru-RU" dirty="0"/>
              <a:t> для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навчальним</a:t>
            </a:r>
            <a:r>
              <a:rPr lang="ru-RU" dirty="0"/>
              <a:t> </a:t>
            </a:r>
            <a:r>
              <a:rPr lang="ru-RU" dirty="0" err="1"/>
              <a:t>процесом</a:t>
            </a:r>
            <a:r>
              <a:rPr lang="ru-RU" dirty="0"/>
              <a:t>, </a:t>
            </a:r>
            <a:r>
              <a:rPr lang="ru-RU" dirty="0" err="1"/>
              <a:t>обліком</a:t>
            </a:r>
            <a:r>
              <a:rPr lang="ru-RU" dirty="0"/>
              <a:t> та </a:t>
            </a:r>
            <a:r>
              <a:rPr lang="ru-RU" dirty="0" err="1"/>
              <a:t>комунікацією</a:t>
            </a:r>
            <a:r>
              <a:rPr lang="ru-RU" dirty="0"/>
              <a:t> в центрах </a:t>
            </a:r>
            <a:r>
              <a:rPr lang="ru-RU" dirty="0" err="1"/>
              <a:t>дитячого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858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481914"/>
            <a:ext cx="8520600" cy="3877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uk-UA" b="1" dirty="0"/>
              <a:t>Завдання даної роботи: </a:t>
            </a:r>
            <a:r>
              <a:rPr lang="uk-UA" dirty="0"/>
              <a:t>розробка серверної частини, бази даних та частини функціоналу мобільного застосунку</a:t>
            </a:r>
            <a:r>
              <a:rPr lang="en-US" dirty="0"/>
              <a:t>.</a:t>
            </a:r>
          </a:p>
          <a:p>
            <a:pPr marL="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uk-UA" dirty="0"/>
              <a:t>Серверна частина забезпечує: обробку </a:t>
            </a:r>
            <a:r>
              <a:rPr lang="en-US" dirty="0"/>
              <a:t>HTTP-</a:t>
            </a:r>
            <a:r>
              <a:rPr lang="uk-UA" dirty="0"/>
              <a:t>запитів, бізнес-логіку, автентифікацію та авторизацію, взаємодію з БД, інтеграцію з зовнішніми сервісами</a:t>
            </a:r>
            <a:r>
              <a:rPr lang="en-US" dirty="0"/>
              <a:t>.</a:t>
            </a:r>
          </a:p>
          <a:p>
            <a:pPr marL="0" lvl="0" indent="0" algn="just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uk-UA" dirty="0"/>
              <a:t>Частина мобільного застосунку, реалізована в даній роботі: автентифікацію користувачів, перегляд розкладу занять, профіль користувача, </a:t>
            </a:r>
            <a:r>
              <a:rPr lang="en-US" dirty="0"/>
              <a:t>push-</a:t>
            </a:r>
            <a:r>
              <a:rPr lang="uk-UA" dirty="0"/>
              <a:t>сповіщення про зміни в розкладі.</a:t>
            </a:r>
          </a:p>
          <a:p>
            <a:pPr marL="0" indent="0" algn="just">
              <a:lnSpc>
                <a:spcPct val="120000"/>
              </a:lnSpc>
              <a:spcBef>
                <a:spcPts val="1000"/>
              </a:spcBef>
              <a:buNone/>
            </a:pPr>
            <a:r>
              <a:rPr lang="uk-UA" dirty="0"/>
              <a:t>Очікуваний основний функціонал системи: керування всіма даними (користувачів системи, дітей, гуртків, груп, центрів); перегляд розкладу; заповнення форми заявки на пробне заняття; обмін повідомленнями в чатах; керування матеріалами; ведення обліку відвідуваності.</a:t>
            </a:r>
            <a:endParaRPr lang="en-US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Проєктування програмного забезпечення</a:t>
            </a:r>
            <a:endParaRPr sz="3200"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8DE4B-9FDA-4144-860F-94EFFD717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1908604"/>
            <a:ext cx="3068454" cy="132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A407EAA-018E-47E9-857B-5B634D4EE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961" y="547568"/>
            <a:ext cx="5485279" cy="439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467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601282"/>
            <a:ext cx="8520600" cy="3940935"/>
          </a:xfrm>
          <a:prstGeom prst="rect">
            <a:avLst/>
          </a:prstGeom>
        </p:spPr>
        <p:txBody>
          <a:bodyPr spcFirstLastPara="1" wrap="square" lIns="91425" tIns="91425" rIns="91425" bIns="91425" numCol="1" spcCol="360000" anchor="t" anchorCtr="0">
            <a:noAutofit/>
          </a:bodyPr>
          <a:lstStyle/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ASP.NET Core Web API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реалізація серверної частини та обробка 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HTTP-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запитів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Entity Framework Core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робота з базою даних та 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ORM-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модель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JWT (JSON Web Token)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автентифікація та авторизація користувачів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 err="1">
                <a:solidFill>
                  <a:srgbClr val="0D0D0D"/>
                </a:solidFill>
                <a:highlight>
                  <a:srgbClr val="FFFFFF"/>
                </a:highlight>
              </a:rPr>
              <a:t>SignalR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обмін даними в режимі реального часу (чати, оновлення)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Microsoft SQL Server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реляційна база даних для зберігання інформації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indent="-285750" algn="just">
              <a:lnSpc>
                <a:spcPct val="100000"/>
              </a:lnSpc>
              <a:spcBef>
                <a:spcPts val="1500"/>
              </a:spcBef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Android (Kotlin)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розробка мобільного застосунку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Jetpack Compose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побудова сучасного 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UI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мобільного застосунку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Firebase Cloud Messaging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push-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сповіщення на пристрої користувачів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;</a:t>
            </a:r>
            <a:endParaRPr lang="uk-UA" sz="1400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Font typeface="Open Sans" panose="020B0606030504020204" pitchFamily="34" charset="0"/>
              <a:buChar char="–"/>
            </a:pP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Cloudinary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–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uk-UA" sz="1400" dirty="0">
                <a:solidFill>
                  <a:srgbClr val="0D0D0D"/>
                </a:solidFill>
                <a:highlight>
                  <a:srgbClr val="FFFFFF"/>
                </a:highlight>
              </a:rPr>
              <a:t>зберігання та доставка </a:t>
            </a:r>
            <a:r>
              <a:rPr lang="uk-UA" sz="1400" dirty="0" err="1">
                <a:solidFill>
                  <a:srgbClr val="0D0D0D"/>
                </a:solidFill>
                <a:highlight>
                  <a:srgbClr val="FFFFFF"/>
                </a:highlight>
              </a:rPr>
              <a:t>медіафайлів</a:t>
            </a:r>
            <a:r>
              <a:rPr lang="en-US" sz="1400" dirty="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endParaRPr sz="1400"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sp>
        <p:nvSpPr>
          <p:cNvPr id="8" name="Google Shape;107;p19">
            <a:extLst>
              <a:ext uri="{FF2B5EF4-FFF2-40B4-BE49-F238E27FC236}">
                <a16:creationId xmlns:a16="http://schemas.microsoft.com/office/drawing/2014/main" id="{CC9595B8-42F1-40A4-8B8C-C7D13843AB7C}"/>
              </a:ext>
            </a:extLst>
          </p:cNvPr>
          <p:cNvSpPr txBox="1">
            <a:spLocks/>
          </p:cNvSpPr>
          <p:nvPr/>
        </p:nvSpPr>
        <p:spPr>
          <a:xfrm>
            <a:off x="2551852" y="3819074"/>
            <a:ext cx="3464738" cy="83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UML-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діаграма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розгортування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3B789A-DFBC-496B-BD39-AE4B4436FA5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18884" y="1180959"/>
            <a:ext cx="7246184" cy="285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4" y="349659"/>
            <a:ext cx="8559543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створеного програмного забезпечення. Серверна частина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422823" y="1233732"/>
            <a:ext cx="4531884" cy="34166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 algn="just">
              <a:lnSpc>
                <a:spcPct val="100000"/>
              </a:lnSpc>
              <a:spcAft>
                <a:spcPts val="1500"/>
              </a:spcAft>
              <a:buFont typeface="Open Sans" panose="020B0606030504020204" pitchFamily="34" charset="0"/>
              <a:buChar char="–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серверну частину програмної системи реалізовано відповідно до принципів багатошарової архітектури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pPr marL="285750" indent="-285750" algn="just">
              <a:lnSpc>
                <a:spcPct val="100000"/>
              </a:lnSpc>
              <a:spcAft>
                <a:spcPts val="1500"/>
              </a:spcAft>
              <a:buFont typeface="Open Sans" panose="020B0606030504020204" pitchFamily="34" charset="0"/>
              <a:buChar char="–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 межах системи використано </a:t>
            </a:r>
            <a:r>
              <a:rPr lang="uk-UA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трирівневу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архітектуру: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рівень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представлення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рівень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бізнес-логіки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і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рівень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доступу до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uk-U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C9CF80-B51F-400E-BF0F-EDE90266426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769489" y="1093800"/>
            <a:ext cx="2151072" cy="335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5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448A10-2209-4041-BA78-F828D665EB2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76632" y="364524"/>
            <a:ext cx="6808575" cy="4625076"/>
          </a:xfrm>
          <a:prstGeom prst="rect">
            <a:avLst/>
          </a:prstGeom>
        </p:spPr>
      </p:pic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Структура бази даних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08879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561820" y="2307637"/>
            <a:ext cx="1682445" cy="831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 Studio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2050" name="Picture 2" descr="Visual Studio 2022 Download - ComputerBase">
            <a:extLst>
              <a:ext uri="{FF2B5EF4-FFF2-40B4-BE49-F238E27FC236}">
                <a16:creationId xmlns:a16="http://schemas.microsoft.com/office/drawing/2014/main" id="{2C18BB4C-29D1-4323-A7FA-A97DFF51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37" y="1302681"/>
            <a:ext cx="1088230" cy="108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6A3BA0-EB48-4ED8-86B8-A17CDF756D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682" t="14011" r="19623" b="16495"/>
          <a:stretch/>
        </p:blipFill>
        <p:spPr>
          <a:xfrm>
            <a:off x="2890159" y="1310539"/>
            <a:ext cx="920787" cy="1090177"/>
          </a:xfrm>
          <a:prstGeom prst="rect">
            <a:avLst/>
          </a:prstGeom>
        </p:spPr>
      </p:pic>
      <p:pic>
        <p:nvPicPr>
          <p:cNvPr id="2054" name="Picture 6" descr="What is SQL Server Management Studio (SSMS) and How to Install it? | by  Ahmet ORHAN | DevOps.dev">
            <a:extLst>
              <a:ext uri="{FF2B5EF4-FFF2-40B4-BE49-F238E27FC236}">
                <a16:creationId xmlns:a16="http://schemas.microsoft.com/office/drawing/2014/main" id="{051B3F35-8B96-474E-8A39-C991FF0F2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831" y="1143700"/>
            <a:ext cx="1406192" cy="140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SP.NET Core Swagger UI Authorization using IdentityServer4">
            <a:extLst>
              <a:ext uri="{FF2B5EF4-FFF2-40B4-BE49-F238E27FC236}">
                <a16:creationId xmlns:a16="http://schemas.microsoft.com/office/drawing/2014/main" id="{813AAB84-5386-4E41-9BD2-E94FB6B0D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102" y="3403822"/>
            <a:ext cx="2393189" cy="67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846394-4223-4D33-A667-BB9E1A844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593" y="1278897"/>
            <a:ext cx="1145325" cy="1145325"/>
          </a:xfrm>
          <a:prstGeom prst="rect">
            <a:avLst/>
          </a:prstGeom>
        </p:spPr>
      </p:pic>
      <p:pic>
        <p:nvPicPr>
          <p:cNvPr id="2060" name="Picture 12" descr="How To Upload Multiple files to Cloudinary in Nodejs using Promise.all |  Codementor">
            <a:extLst>
              <a:ext uri="{FF2B5EF4-FFF2-40B4-BE49-F238E27FC236}">
                <a16:creationId xmlns:a16="http://schemas.microsoft.com/office/drawing/2014/main" id="{A836A828-E96A-41D3-B0A6-DE5A31627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07" y="3508485"/>
            <a:ext cx="2374900" cy="45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Firebase expands to become a unified app platform - Google Developers Blog">
            <a:extLst>
              <a:ext uri="{FF2B5EF4-FFF2-40B4-BE49-F238E27FC236}">
                <a16:creationId xmlns:a16="http://schemas.microsoft.com/office/drawing/2014/main" id="{115F09DF-78D8-4F33-9150-09618147B6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8" t="19890" r="11740" b="25238"/>
          <a:stretch/>
        </p:blipFill>
        <p:spPr bwMode="auto">
          <a:xfrm>
            <a:off x="3306252" y="3342597"/>
            <a:ext cx="1959764" cy="70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Google Shape;107;p19">
            <a:extLst>
              <a:ext uri="{FF2B5EF4-FFF2-40B4-BE49-F238E27FC236}">
                <a16:creationId xmlns:a16="http://schemas.microsoft.com/office/drawing/2014/main" id="{5DBC75D1-1ADD-4797-B60C-360EC11A789A}"/>
              </a:ext>
            </a:extLst>
          </p:cNvPr>
          <p:cNvSpPr txBox="1">
            <a:spLocks/>
          </p:cNvSpPr>
          <p:nvPr/>
        </p:nvSpPr>
        <p:spPr>
          <a:xfrm>
            <a:off x="2454399" y="2307637"/>
            <a:ext cx="1803064" cy="83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 Studio</a:t>
            </a:r>
          </a:p>
        </p:txBody>
      </p:sp>
      <p:sp>
        <p:nvSpPr>
          <p:cNvPr id="16" name="Google Shape;107;p19">
            <a:extLst>
              <a:ext uri="{FF2B5EF4-FFF2-40B4-BE49-F238E27FC236}">
                <a16:creationId xmlns:a16="http://schemas.microsoft.com/office/drawing/2014/main" id="{BB8C4B8F-23AD-4920-8429-8C1C0C202522}"/>
              </a:ext>
            </a:extLst>
          </p:cNvPr>
          <p:cNvSpPr txBox="1">
            <a:spLocks/>
          </p:cNvSpPr>
          <p:nvPr/>
        </p:nvSpPr>
        <p:spPr>
          <a:xfrm>
            <a:off x="4318174" y="2216996"/>
            <a:ext cx="2393189" cy="83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 Server Management Studio</a:t>
            </a:r>
          </a:p>
        </p:txBody>
      </p:sp>
      <p:sp>
        <p:nvSpPr>
          <p:cNvPr id="17" name="Google Shape;107;p19">
            <a:extLst>
              <a:ext uri="{FF2B5EF4-FFF2-40B4-BE49-F238E27FC236}">
                <a16:creationId xmlns:a16="http://schemas.microsoft.com/office/drawing/2014/main" id="{961CD5E7-79F6-4C3F-A037-5399F038DE03}"/>
              </a:ext>
            </a:extLst>
          </p:cNvPr>
          <p:cNvSpPr txBox="1">
            <a:spLocks/>
          </p:cNvSpPr>
          <p:nvPr/>
        </p:nvSpPr>
        <p:spPr>
          <a:xfrm>
            <a:off x="7145792" y="2304598"/>
            <a:ext cx="1062926" cy="82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0645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7CA5E5-BCA4-4CEA-BE2A-A879088B6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416" y="1441318"/>
            <a:ext cx="6373167" cy="2768732"/>
          </a:xfrm>
          <a:prstGeom prst="rect">
            <a:avLst/>
          </a:prstGeom>
        </p:spPr>
      </p:pic>
      <p:sp>
        <p:nvSpPr>
          <p:cNvPr id="9" name="Google Shape;107;p19">
            <a:extLst>
              <a:ext uri="{FF2B5EF4-FFF2-40B4-BE49-F238E27FC236}">
                <a16:creationId xmlns:a16="http://schemas.microsoft.com/office/drawing/2014/main" id="{DE0F0E75-6171-4FC8-A810-AECCD994C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4660" y="590726"/>
            <a:ext cx="8444263" cy="1126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перевірки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прав доступу з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розмежуванням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E3CEB1-0B30-4A00-918E-568A629CB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223" y="1423115"/>
            <a:ext cx="4606700" cy="3306649"/>
          </a:xfrm>
          <a:prstGeom prst="rect">
            <a:avLst/>
          </a:prstGeom>
        </p:spPr>
      </p:pic>
      <p:sp>
        <p:nvSpPr>
          <p:cNvPr id="11" name="Google Shape;107;p19">
            <a:extLst>
              <a:ext uri="{FF2B5EF4-FFF2-40B4-BE49-F238E27FC236}">
                <a16:creationId xmlns:a16="http://schemas.microsoft.com/office/drawing/2014/main" id="{6EC8F544-8E77-4ADF-9514-C1039104D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3977" y="487880"/>
            <a:ext cx="8444263" cy="1126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отримання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ідентифікатора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ресурсу 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URL-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адреси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хмарного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сховища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Cloudinary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53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користувача. Серверна частина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D5B9F4-BC89-42AD-8F23-42916D17D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74" y="653446"/>
            <a:ext cx="3631949" cy="15824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33E8C4-983E-4F9F-81FA-28811C99E1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061"/>
          <a:stretch/>
        </p:blipFill>
        <p:spPr>
          <a:xfrm>
            <a:off x="4944147" y="653446"/>
            <a:ext cx="3502157" cy="3409838"/>
          </a:xfrm>
          <a:prstGeom prst="rect">
            <a:avLst/>
          </a:prstGeom>
        </p:spPr>
      </p:pic>
      <p:sp>
        <p:nvSpPr>
          <p:cNvPr id="13" name="Google Shape;107;p19">
            <a:extLst>
              <a:ext uri="{FF2B5EF4-FFF2-40B4-BE49-F238E27FC236}">
                <a16:creationId xmlns:a16="http://schemas.microsoft.com/office/drawing/2014/main" id="{16AEBAEF-7D51-420A-A1AC-BF4960213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8951" y="1943300"/>
            <a:ext cx="4735196" cy="641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Автентифікація адміністратора системи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Google Shape;107;p19">
            <a:extLst>
              <a:ext uri="{FF2B5EF4-FFF2-40B4-BE49-F238E27FC236}">
                <a16:creationId xmlns:a16="http://schemas.microsoft.com/office/drawing/2014/main" id="{96175ABE-A5AF-42CD-91A9-2012C09541A1}"/>
              </a:ext>
            </a:extLst>
          </p:cNvPr>
          <p:cNvSpPr txBox="1">
            <a:spLocks/>
          </p:cNvSpPr>
          <p:nvPr/>
        </p:nvSpPr>
        <p:spPr>
          <a:xfrm>
            <a:off x="5307863" y="3887591"/>
            <a:ext cx="2838748" cy="88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Список зареєстрованих дитячих центрів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2C2ECED-A4EA-4096-8E27-847468FCDF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6408"/>
          <a:stretch/>
        </p:blipFill>
        <p:spPr>
          <a:xfrm>
            <a:off x="1687642" y="2597661"/>
            <a:ext cx="2655948" cy="1887586"/>
          </a:xfrm>
          <a:prstGeom prst="rect">
            <a:avLst/>
          </a:prstGeom>
        </p:spPr>
      </p:pic>
      <p:sp>
        <p:nvSpPr>
          <p:cNvPr id="17" name="Google Shape;107;p19">
            <a:extLst>
              <a:ext uri="{FF2B5EF4-FFF2-40B4-BE49-F238E27FC236}">
                <a16:creationId xmlns:a16="http://schemas.microsoft.com/office/drawing/2014/main" id="{24A1FCFD-6567-469E-B771-42004AF83571}"/>
              </a:ext>
            </a:extLst>
          </p:cNvPr>
          <p:cNvSpPr txBox="1">
            <a:spLocks/>
          </p:cNvSpPr>
          <p:nvPr/>
        </p:nvSpPr>
        <p:spPr>
          <a:xfrm>
            <a:off x="1297174" y="4216471"/>
            <a:ext cx="3327548" cy="94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ctr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Редагування даних дитини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186374" y="-143620"/>
            <a:ext cx="8875076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користувача. Мобільний застосунок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2262F0-C635-4E2A-AD51-4BB5E9038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9691" y="687680"/>
            <a:ext cx="1540382" cy="324516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6210C8-97A0-4388-B4FF-ECF77E707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57" y="683401"/>
            <a:ext cx="1549860" cy="3249446"/>
          </a:xfrm>
          <a:prstGeom prst="rect">
            <a:avLst/>
          </a:prstGeom>
        </p:spPr>
      </p:pic>
      <p:sp>
        <p:nvSpPr>
          <p:cNvPr id="9" name="Google Shape;107;p19">
            <a:extLst>
              <a:ext uri="{FF2B5EF4-FFF2-40B4-BE49-F238E27FC236}">
                <a16:creationId xmlns:a16="http://schemas.microsoft.com/office/drawing/2014/main" id="{99F6A503-C373-4017-BFFE-83DA96101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22" y="3770711"/>
            <a:ext cx="2023253" cy="58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Екран автентифікації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1AD99D-28D1-430D-A81D-634C79548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2624" y="683401"/>
            <a:ext cx="1576011" cy="3245167"/>
          </a:xfrm>
          <a:prstGeom prst="rect">
            <a:avLst/>
          </a:prstGeom>
        </p:spPr>
      </p:pic>
      <p:sp>
        <p:nvSpPr>
          <p:cNvPr id="16" name="Google Shape;107;p19">
            <a:extLst>
              <a:ext uri="{FF2B5EF4-FFF2-40B4-BE49-F238E27FC236}">
                <a16:creationId xmlns:a16="http://schemas.microsoft.com/office/drawing/2014/main" id="{487593A2-A7EE-4456-9CA1-0801CE2C37E9}"/>
              </a:ext>
            </a:extLst>
          </p:cNvPr>
          <p:cNvSpPr txBox="1">
            <a:spLocks/>
          </p:cNvSpPr>
          <p:nvPr/>
        </p:nvSpPr>
        <p:spPr>
          <a:xfrm>
            <a:off x="2322178" y="3770711"/>
            <a:ext cx="1540382" cy="64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Розклад занять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Google Shape;107;p19">
            <a:extLst>
              <a:ext uri="{FF2B5EF4-FFF2-40B4-BE49-F238E27FC236}">
                <a16:creationId xmlns:a16="http://schemas.microsoft.com/office/drawing/2014/main" id="{89BF0CD7-89BD-446F-ACCC-B92215E6B9F7}"/>
              </a:ext>
            </a:extLst>
          </p:cNvPr>
          <p:cNvSpPr txBox="1">
            <a:spLocks/>
          </p:cNvSpPr>
          <p:nvPr/>
        </p:nvSpPr>
        <p:spPr>
          <a:xfrm>
            <a:off x="3941696" y="3770711"/>
            <a:ext cx="2058759" cy="64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Профіль користувача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6E0C209-CE14-4035-9CD7-EB54198109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0392"/>
          <a:stretch/>
        </p:blipFill>
        <p:spPr>
          <a:xfrm>
            <a:off x="6256407" y="706635"/>
            <a:ext cx="2039787" cy="121848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86C6BA-23BA-4FDF-AC70-10716F8D733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39142"/>
          <a:stretch/>
        </p:blipFill>
        <p:spPr>
          <a:xfrm>
            <a:off x="6283987" y="2594954"/>
            <a:ext cx="2035381" cy="1195412"/>
          </a:xfrm>
          <a:prstGeom prst="rect">
            <a:avLst/>
          </a:prstGeom>
        </p:spPr>
      </p:pic>
      <p:sp>
        <p:nvSpPr>
          <p:cNvPr id="13" name="Google Shape;107;p19">
            <a:extLst>
              <a:ext uri="{FF2B5EF4-FFF2-40B4-BE49-F238E27FC236}">
                <a16:creationId xmlns:a16="http://schemas.microsoft.com/office/drawing/2014/main" id="{20E8B6DE-C174-403B-949F-2C90C07E7D59}"/>
              </a:ext>
            </a:extLst>
          </p:cNvPr>
          <p:cNvSpPr txBox="1">
            <a:spLocks/>
          </p:cNvSpPr>
          <p:nvPr/>
        </p:nvSpPr>
        <p:spPr>
          <a:xfrm>
            <a:off x="6058119" y="1686079"/>
            <a:ext cx="2541603" cy="5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</a:t>
            </a: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-сповіщення про нове заняття (згорнутий вигляд)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Google Shape;107;p19">
            <a:extLst>
              <a:ext uri="{FF2B5EF4-FFF2-40B4-BE49-F238E27FC236}">
                <a16:creationId xmlns:a16="http://schemas.microsoft.com/office/drawing/2014/main" id="{2D91EF75-B501-4922-BC96-F173BD9DBADC}"/>
              </a:ext>
            </a:extLst>
          </p:cNvPr>
          <p:cNvSpPr txBox="1">
            <a:spLocks/>
          </p:cNvSpPr>
          <p:nvPr/>
        </p:nvSpPr>
        <p:spPr>
          <a:xfrm>
            <a:off x="6075442" y="3594484"/>
            <a:ext cx="2773001" cy="5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 algn="just">
              <a:spcBef>
                <a:spcPts val="1500"/>
              </a:spcBef>
              <a:spcAft>
                <a:spcPts val="1200"/>
              </a:spcAft>
              <a:buFont typeface="Open Sans"/>
              <a:buNone/>
            </a:pP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</a:t>
            </a:r>
            <a:r>
              <a:rPr lang="uk-UA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-сповіщення про нове заняття (розгорнутий вигляд)</a:t>
            </a:r>
            <a:endParaRPr lang="en-US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942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CC6C18-2A19-4628-8782-F282C3D77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97" y="1121000"/>
            <a:ext cx="4075032" cy="32385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A51AE5-252C-4EA9-B4DE-565E9EC03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156" y="1117998"/>
            <a:ext cx="4075032" cy="3241502"/>
          </a:xfrm>
          <a:prstGeom prst="rect">
            <a:avLst/>
          </a:prstGeom>
        </p:spPr>
      </p:pic>
      <p:sp>
        <p:nvSpPr>
          <p:cNvPr id="19" name="Google Shape;107;p19">
            <a:extLst>
              <a:ext uri="{FF2B5EF4-FFF2-40B4-BE49-F238E27FC236}">
                <a16:creationId xmlns:a16="http://schemas.microsoft.com/office/drawing/2014/main" id="{CD9CF7DA-C4B3-40B0-B56E-5AEE572E0D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5" y="466692"/>
            <a:ext cx="8444263" cy="1126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500"/>
              </a:spcBef>
              <a:spcAft>
                <a:spcPts val="1200"/>
              </a:spcAft>
              <a:buNone/>
            </a:pP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Приклади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тест-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кейсів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для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серверної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частини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мобільного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застосунку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672477"/>
            <a:ext cx="8520600" cy="3861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dirty="0"/>
              <a:t>Розроблена </a:t>
            </a:r>
            <a:r>
              <a:rPr lang="ru-RU" dirty="0" err="1"/>
              <a:t>програмна</a:t>
            </a:r>
            <a:r>
              <a:rPr lang="ru-RU" dirty="0"/>
              <a:t> система «</a:t>
            </a:r>
            <a:r>
              <a:rPr lang="en-US" dirty="0" err="1"/>
              <a:t>ChildSpace</a:t>
            </a:r>
            <a:r>
              <a:rPr lang="en-US" dirty="0"/>
              <a:t>» </a:t>
            </a:r>
            <a:r>
              <a:rPr lang="ru-RU" dirty="0"/>
              <a:t>є </a:t>
            </a:r>
            <a:r>
              <a:rPr lang="ru-RU" dirty="0" err="1"/>
              <a:t>клієнт-серверним</a:t>
            </a:r>
            <a:r>
              <a:rPr lang="ru-RU" dirty="0"/>
              <a:t> </a:t>
            </a:r>
            <a:r>
              <a:rPr lang="ru-RU" dirty="0" err="1"/>
              <a:t>рішенням</a:t>
            </a:r>
            <a:r>
              <a:rPr lang="ru-RU" dirty="0"/>
              <a:t>, готовим до </a:t>
            </a:r>
            <a:r>
              <a:rPr lang="ru-RU" dirty="0" err="1"/>
              <a:t>впровадження</a:t>
            </a:r>
            <a:r>
              <a:rPr lang="ru-RU" dirty="0"/>
              <a:t> у центрах </a:t>
            </a:r>
            <a:r>
              <a:rPr lang="ru-RU" dirty="0" err="1"/>
              <a:t>дитячого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r>
              <a:rPr lang="ru-RU" dirty="0"/>
              <a:t>.</a:t>
            </a: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dirty="0"/>
              <a:t>У межах </a:t>
            </a:r>
            <a:r>
              <a:rPr lang="ru-RU" dirty="0" err="1"/>
              <a:t>кваліфікаційної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повністю</a:t>
            </a:r>
            <a:r>
              <a:rPr lang="ru-RU" dirty="0"/>
              <a:t> </a:t>
            </a:r>
            <a:r>
              <a:rPr lang="ru-RU" dirty="0" err="1"/>
              <a:t>реалізовано</a:t>
            </a:r>
            <a:r>
              <a:rPr lang="ru-RU" dirty="0"/>
              <a:t> </a:t>
            </a:r>
            <a:r>
              <a:rPr lang="ru-RU" dirty="0" err="1"/>
              <a:t>серверну</a:t>
            </a:r>
            <a:r>
              <a:rPr lang="ru-RU" dirty="0"/>
              <a:t> </a:t>
            </a:r>
            <a:r>
              <a:rPr lang="ru-RU" dirty="0" err="1"/>
              <a:t>частину</a:t>
            </a:r>
            <a:r>
              <a:rPr lang="ru-RU" dirty="0"/>
              <a:t> на </a:t>
            </a:r>
            <a:r>
              <a:rPr lang="ru-RU" dirty="0" err="1"/>
              <a:t>базі</a:t>
            </a:r>
            <a:r>
              <a:rPr lang="ru-RU" dirty="0"/>
              <a:t> </a:t>
            </a:r>
            <a:r>
              <a:rPr lang="en-US" dirty="0"/>
              <a:t>ASP.NET Core, </a:t>
            </a:r>
            <a:r>
              <a:rPr lang="ru-RU" dirty="0" err="1"/>
              <a:t>спроєктовано</a:t>
            </a:r>
            <a:r>
              <a:rPr lang="ru-RU" dirty="0"/>
              <a:t> </a:t>
            </a:r>
            <a:r>
              <a:rPr lang="ru-RU" dirty="0" err="1"/>
              <a:t>реляційну</a:t>
            </a:r>
            <a:r>
              <a:rPr lang="ru-RU" dirty="0"/>
              <a:t> базу </a:t>
            </a:r>
            <a:r>
              <a:rPr lang="ru-RU" dirty="0" err="1"/>
              <a:t>даних</a:t>
            </a:r>
            <a:r>
              <a:rPr lang="ru-RU" dirty="0"/>
              <a:t> та </a:t>
            </a:r>
            <a:r>
              <a:rPr lang="ru-RU" dirty="0" err="1"/>
              <a:t>впроваджено</a:t>
            </a:r>
            <a:r>
              <a:rPr lang="ru-RU" dirty="0"/>
              <a:t> </a:t>
            </a:r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модулі</a:t>
            </a:r>
            <a:r>
              <a:rPr lang="ru-RU" dirty="0"/>
              <a:t> </a:t>
            </a:r>
            <a:r>
              <a:rPr lang="ru-RU" dirty="0" err="1"/>
              <a:t>мобільного</a:t>
            </a:r>
            <a:r>
              <a:rPr lang="ru-RU" dirty="0"/>
              <a:t> </a:t>
            </a:r>
            <a:r>
              <a:rPr lang="ru-RU" dirty="0" err="1"/>
              <a:t>застосунку</a:t>
            </a:r>
            <a:r>
              <a:rPr lang="ru-RU" dirty="0"/>
              <a:t> для </a:t>
            </a:r>
            <a:r>
              <a:rPr lang="en-US" dirty="0"/>
              <a:t>Android.</a:t>
            </a: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dirty="0"/>
              <a:t>Система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централізоване</a:t>
            </a:r>
            <a:r>
              <a:rPr lang="ru-RU" dirty="0"/>
              <a:t>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автоматизацію</a:t>
            </a:r>
            <a:r>
              <a:rPr lang="ru-RU" dirty="0"/>
              <a:t> </a:t>
            </a:r>
            <a:r>
              <a:rPr lang="ru-RU" dirty="0" err="1"/>
              <a:t>розкладу</a:t>
            </a:r>
            <a:r>
              <a:rPr lang="ru-RU" dirty="0"/>
              <a:t> та </a:t>
            </a:r>
            <a:r>
              <a:rPr lang="ru-RU" dirty="0" err="1"/>
              <a:t>безпечну</a:t>
            </a:r>
            <a:r>
              <a:rPr lang="ru-RU" dirty="0"/>
              <a:t> </a:t>
            </a:r>
            <a:r>
              <a:rPr lang="ru-RU" dirty="0" err="1"/>
              <a:t>взаємодію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адміністрацією</a:t>
            </a:r>
            <a:r>
              <a:rPr lang="ru-RU" dirty="0"/>
              <a:t>, </a:t>
            </a:r>
            <a:r>
              <a:rPr lang="ru-RU" dirty="0" err="1"/>
              <a:t>викладачами</a:t>
            </a:r>
            <a:r>
              <a:rPr lang="ru-RU" dirty="0"/>
              <a:t> й батьками. </a:t>
            </a:r>
          </a:p>
          <a:p>
            <a:pPr marL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-RU" dirty="0" err="1"/>
              <a:t>Подальший</a:t>
            </a:r>
            <a:r>
              <a:rPr lang="ru-RU" dirty="0"/>
              <a:t> </a:t>
            </a:r>
            <a:r>
              <a:rPr lang="ru-RU" dirty="0" err="1"/>
              <a:t>розвиток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можливий</a:t>
            </a:r>
            <a:r>
              <a:rPr lang="ru-RU" dirty="0"/>
              <a:t> шляхом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версії</a:t>
            </a:r>
            <a:r>
              <a:rPr lang="ru-RU" dirty="0"/>
              <a:t> для </a:t>
            </a:r>
            <a:r>
              <a:rPr lang="en-US" dirty="0"/>
              <a:t>iOS, </a:t>
            </a:r>
            <a:r>
              <a:rPr lang="ru-RU" dirty="0" err="1"/>
              <a:t>впровадження</a:t>
            </a:r>
            <a:r>
              <a:rPr lang="ru-RU" dirty="0"/>
              <a:t> модуля </a:t>
            </a:r>
            <a:r>
              <a:rPr lang="ru-RU" dirty="0" err="1"/>
              <a:t>фінансового</a:t>
            </a:r>
            <a:r>
              <a:rPr lang="ru-RU" dirty="0"/>
              <a:t> </a:t>
            </a:r>
            <a:r>
              <a:rPr lang="ru-RU" dirty="0" err="1"/>
              <a:t>обліку</a:t>
            </a:r>
            <a:r>
              <a:rPr lang="ru-RU" dirty="0"/>
              <a:t> та </a:t>
            </a:r>
            <a:r>
              <a:rPr lang="ru-RU" dirty="0" err="1"/>
              <a:t>розширення</a:t>
            </a:r>
            <a:r>
              <a:rPr lang="ru-RU" dirty="0"/>
              <a:t> </a:t>
            </a:r>
            <a:r>
              <a:rPr lang="ru-RU" dirty="0" err="1"/>
              <a:t>функціоналу</a:t>
            </a:r>
            <a:r>
              <a:rPr lang="ru-RU" dirty="0"/>
              <a:t> для </a:t>
            </a:r>
            <a:r>
              <a:rPr lang="ru-RU" dirty="0" err="1"/>
              <a:t>оцінювання</a:t>
            </a:r>
            <a:r>
              <a:rPr lang="ru-RU" dirty="0"/>
              <a:t> </a:t>
            </a:r>
            <a:r>
              <a:rPr lang="ru-RU" dirty="0" err="1"/>
              <a:t>індивідуального</a:t>
            </a:r>
            <a:r>
              <a:rPr lang="ru-RU" dirty="0"/>
              <a:t> </a:t>
            </a:r>
            <a:r>
              <a:rPr lang="ru-RU" dirty="0" err="1"/>
              <a:t>прогресу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705</Words>
  <Application>Microsoft Office PowerPoint</Application>
  <PresentationFormat>Экран (16:9)</PresentationFormat>
  <Paragraphs>82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Open Sans</vt:lpstr>
      <vt:lpstr>Arial</vt:lpstr>
      <vt:lpstr>Economica</vt:lpstr>
      <vt:lpstr>Шаблон презентації кваліфікаційної роботи магістрів</vt:lpstr>
      <vt:lpstr>Програмна система для центру дитячого розвитку. Веб-застосунок та мобільний додаток для Android. Бекенд</vt:lpstr>
      <vt:lpstr>Мета роботи</vt:lpstr>
      <vt:lpstr>Аналіз проблеми. Аналоги системи</vt:lpstr>
      <vt:lpstr>Аналіз проблеми. Аналіз недоліків</vt:lpstr>
      <vt:lpstr>Постановка задачі та опис системи</vt:lpstr>
      <vt:lpstr>Проєктування програмного забезпечення</vt:lpstr>
      <vt:lpstr>Вибір технологій розробки </vt:lpstr>
      <vt:lpstr>Архітектура створеного програмного забезпечення</vt:lpstr>
      <vt:lpstr>Архітектура створеного програмного забезпечення. Серверна частина</vt:lpstr>
      <vt:lpstr>Структура бази даних</vt:lpstr>
      <vt:lpstr>Опис програмного забезпечення, що було використано</vt:lpstr>
      <vt:lpstr>Приклад реалізації</vt:lpstr>
      <vt:lpstr>Приклад реалізації</vt:lpstr>
      <vt:lpstr>Інтерфейс користувача. Серверна частина</vt:lpstr>
      <vt:lpstr>Інтерфейс користувача. Мобільний застосунок</vt:lpstr>
      <vt:lpstr>Тестування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Lexin</dc:creator>
  <cp:lastModifiedBy>lenazozula05@gmail.com</cp:lastModifiedBy>
  <cp:revision>68</cp:revision>
  <dcterms:created xsi:type="dcterms:W3CDTF">2024-10-03T11:39:34Z</dcterms:created>
  <dcterms:modified xsi:type="dcterms:W3CDTF">2026-07-06T18:03:58Z</dcterms:modified>
</cp:coreProperties>
</file>