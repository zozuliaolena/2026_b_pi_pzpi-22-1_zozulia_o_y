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70" r:id="rId5"/>
    <p:sldId id="259" r:id="rId6"/>
    <p:sldId id="279" r:id="rId7"/>
    <p:sldId id="260" r:id="rId8"/>
    <p:sldId id="261" r:id="rId9"/>
    <p:sldId id="271" r:id="rId10"/>
    <p:sldId id="273" r:id="rId11"/>
    <p:sldId id="275" r:id="rId12"/>
    <p:sldId id="264" r:id="rId13"/>
    <p:sldId id="276" r:id="rId14"/>
    <p:sldId id="265" r:id="rId15"/>
    <p:sldId id="278" r:id="rId16"/>
    <p:sldId id="268" r:id="rId17"/>
    <p:sldId id="267" r:id="rId18"/>
  </p:sldIdLst>
  <p:sldSz cx="9144000" cy="5143500" type="screen16x9"/>
  <p:notesSz cx="6858000" cy="9144000"/>
  <p:embeddedFontLst>
    <p:embeddedFont>
      <p:font typeface="Economica" panose="020B060402020202020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27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0137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0870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862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84809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29642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11050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0223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3102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ru-RU"/>
              <a:t>Образец заголовка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ru-RU"/>
              <a:t>Образец подзаголовка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jpe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762201" y="772297"/>
            <a:ext cx="4447967" cy="192765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/>
              <a:t>Програмна</a:t>
            </a:r>
            <a:r>
              <a:rPr lang="ru-RU" sz="2400" dirty="0"/>
              <a:t> система для центру </a:t>
            </a:r>
            <a:r>
              <a:rPr lang="ru-RU" sz="2400" dirty="0" err="1"/>
              <a:t>дитячого</a:t>
            </a:r>
            <a:r>
              <a:rPr lang="ru-RU" sz="2400" dirty="0"/>
              <a:t> </a:t>
            </a:r>
            <a:r>
              <a:rPr lang="ru-RU" sz="2400" dirty="0" err="1"/>
              <a:t>розвитку</a:t>
            </a:r>
            <a:r>
              <a:rPr lang="ru-RU" sz="2400" dirty="0"/>
              <a:t>. Веб-</a:t>
            </a:r>
            <a:r>
              <a:rPr lang="ru-RU" sz="2400" dirty="0" err="1"/>
              <a:t>застосунок</a:t>
            </a:r>
            <a:r>
              <a:rPr lang="ru-RU" sz="2400" dirty="0"/>
              <a:t> та </a:t>
            </a:r>
            <a:r>
              <a:rPr lang="ru-RU" sz="2400" dirty="0" err="1"/>
              <a:t>мобільний</a:t>
            </a:r>
            <a:r>
              <a:rPr lang="ru-RU" sz="2400" dirty="0"/>
              <a:t> </a:t>
            </a:r>
            <a:r>
              <a:rPr lang="ru-RU" sz="2400" dirty="0" err="1"/>
              <a:t>додаток</a:t>
            </a:r>
            <a:r>
              <a:rPr lang="ru-RU" sz="2400" dirty="0"/>
              <a:t> для </a:t>
            </a:r>
            <a:r>
              <a:rPr lang="ru-RU" sz="2400" dirty="0" err="1"/>
              <a:t>Android</a:t>
            </a:r>
            <a:r>
              <a:rPr lang="ru-RU" sz="2400" dirty="0"/>
              <a:t>. </a:t>
            </a:r>
            <a:r>
              <a:rPr lang="ru-RU" sz="2400" dirty="0" err="1"/>
              <a:t>Бекенд</a:t>
            </a:r>
            <a:endParaRPr lang="uk-UA" sz="24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404553" y="3593150"/>
            <a:ext cx="5087400" cy="15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dirty="0"/>
              <a:t>Зозуля Олена Юріївна, ПЗПІ-22-1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Керівник: </a:t>
            </a:r>
            <a:r>
              <a:rPr lang="uk-UA" dirty="0"/>
              <a:t>доц. каф. ПІ </a:t>
            </a:r>
            <a:r>
              <a:rPr lang="uk-UA" dirty="0" err="1"/>
              <a:t>Мельнікова</a:t>
            </a:r>
            <a:r>
              <a:rPr lang="uk-UA" dirty="0"/>
              <a:t> Роксана Валеріївна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dirty="0"/>
              <a:t>	10 червня 2025</a:t>
            </a:r>
            <a:endParaRPr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Мета роботи</a:t>
            </a:r>
            <a:endParaRPr sz="3200" dirty="0"/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311700" y="747584"/>
            <a:ext cx="8466540" cy="36119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Мета роботи 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проєктування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реалізація програмної системи «</a:t>
            </a:r>
            <a:r>
              <a:rPr lang="en-US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ChildSpace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» 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 автоматизації процесів управління, обліку та комунікації в центрах дитячого розвитку, що об’єднує серверну частину, веб-клієнт і мобільний застосунок.</a:t>
            </a:r>
          </a:p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Мета даної роботи –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проєктування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розробка серверної частини програмної системи, реляційної бази даних та реалізація частини функціоналу мобільного застосунку для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Android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pPr marL="0" lvl="0" indent="0" algn="just" rtl="0">
              <a:lnSpc>
                <a:spcPct val="100000"/>
              </a:lnSpc>
              <a:spcAft>
                <a:spcPts val="8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Багато центрів дитячого розвитку використовують паперовий документообіг і розрізнені засоби комунікації, що ускладнює управління та обмін інформацією. Впровадження єдиної системи забезпечує централізацію даних, підвищує ефективність роботи персоналу та покращує взаємодію між учасниками освітнього процесу.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проблеми. Аналоги системи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311700" y="578071"/>
            <a:ext cx="4289429" cy="36907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just"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Brightwheel – </a:t>
            </a: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</a:rPr>
              <a:t>хмарна платформа для автоматизації роботи дитячих садків і центрів раннього розвитку. Орієнтована на ринок США</a:t>
            </a: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 algn="just"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dirty="0">
                <a:solidFill>
                  <a:srgbClr val="0D0D0D"/>
                </a:solidFill>
                <a:highlight>
                  <a:srgbClr val="FFFFFF"/>
                </a:highlight>
              </a:rPr>
              <a:t>School Today –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українська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платформа для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управління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освітніми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закладами.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Переважно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орієнтована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на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школи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та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великі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навчальні</a:t>
            </a:r>
            <a:r>
              <a:rPr lang="ru-RU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ru-RU" dirty="0" err="1">
                <a:solidFill>
                  <a:srgbClr val="0D0D0D"/>
                </a:solidFill>
                <a:highlight>
                  <a:srgbClr val="FFFFFF"/>
                </a:highlight>
              </a:rPr>
              <a:t>заклади</a:t>
            </a:r>
            <a:r>
              <a:rPr lang="uk-UA" dirty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dirty="0"/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pic>
        <p:nvPicPr>
          <p:cNvPr id="1026" name="Picture 2" descr="Why brightwheel | Leading The Way In Childcare Management">
            <a:extLst>
              <a:ext uri="{FF2B5EF4-FFF2-40B4-BE49-F238E27FC236}">
                <a16:creationId xmlns:a16="http://schemas.microsoft.com/office/drawing/2014/main" id="{FEBB2BAD-648F-4DE7-8745-667111381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2" t="10588" r="5787"/>
          <a:stretch/>
        </p:blipFill>
        <p:spPr bwMode="auto">
          <a:xfrm>
            <a:off x="4817801" y="668705"/>
            <a:ext cx="3713349" cy="217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CFF0FE3-21D2-41E6-AAA2-5B5C27838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7801" y="2848127"/>
            <a:ext cx="3713349" cy="2129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Аналіз проблеми. Аналіз недоліків</a:t>
            </a:r>
            <a:endParaRPr sz="3200" dirty="0"/>
          </a:p>
        </p:txBody>
      </p:sp>
      <p:sp>
        <p:nvSpPr>
          <p:cNvPr id="79" name="Google Shape;79;p15"/>
          <p:cNvSpPr txBox="1">
            <a:spLocks noGrp="1"/>
          </p:cNvSpPr>
          <p:nvPr>
            <p:ph type="body" idx="1"/>
          </p:nvPr>
        </p:nvSpPr>
        <p:spPr>
          <a:xfrm>
            <a:off x="268925" y="772297"/>
            <a:ext cx="8509315" cy="4092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Brightwheel</a:t>
            </a:r>
            <a:r>
              <a:rPr lang="uk-UA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має перевантажений інтерфейс і складну навігацію, обмежені можливості комунікації між користувачами, відсутню локалізацію під український ринок та нестабільну роботу мобільного застосунку</a:t>
            </a: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</a:t>
            </a:r>
            <a:endParaRPr lang="uk-UA" dirty="0">
              <a:effectLst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School Today</a:t>
            </a:r>
            <a:r>
              <a:rPr lang="uk-UA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характеризується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надлишковим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і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складним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функціоналом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невеликих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центрів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перевантаженим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інтерфейсом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технічними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помилками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збоями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в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роботі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застосунку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а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також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складністю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впровадження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у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малих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навчальних</a:t>
            </a:r>
            <a:r>
              <a:rPr lang="ru-RU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закладах.</a:t>
            </a:r>
          </a:p>
          <a:p>
            <a:pPr marL="0" indent="0" algn="just">
              <a:lnSpc>
                <a:spcPct val="100000"/>
              </a:lnSpc>
              <a:spcBef>
                <a:spcPts val="1200"/>
              </a:spcBef>
              <a:buNone/>
            </a:pPr>
            <a:r>
              <a:rPr lang="ru-RU" dirty="0"/>
              <a:t>Проблема: </a:t>
            </a:r>
            <a:r>
              <a:rPr lang="ru-RU" dirty="0" err="1"/>
              <a:t>відсутність</a:t>
            </a:r>
            <a:r>
              <a:rPr lang="ru-RU" dirty="0"/>
              <a:t> </a:t>
            </a:r>
            <a:r>
              <a:rPr lang="ru-RU" dirty="0" err="1"/>
              <a:t>єдиного</a:t>
            </a:r>
            <a:r>
              <a:rPr lang="ru-RU" dirty="0"/>
              <a:t> цифрового </a:t>
            </a:r>
            <a:r>
              <a:rPr lang="ru-RU" dirty="0" err="1"/>
              <a:t>середовища</a:t>
            </a:r>
            <a:r>
              <a:rPr lang="ru-RU" dirty="0"/>
              <a:t> для </a:t>
            </a:r>
            <a:r>
              <a:rPr lang="ru-RU" dirty="0" err="1"/>
              <a:t>управління</a:t>
            </a:r>
            <a:r>
              <a:rPr lang="ru-RU" dirty="0"/>
              <a:t> </a:t>
            </a:r>
            <a:r>
              <a:rPr lang="ru-RU" dirty="0" err="1"/>
              <a:t>навчальним</a:t>
            </a:r>
            <a:r>
              <a:rPr lang="ru-RU" dirty="0"/>
              <a:t> </a:t>
            </a:r>
            <a:r>
              <a:rPr lang="ru-RU" dirty="0" err="1"/>
              <a:t>процесом</a:t>
            </a:r>
            <a:r>
              <a:rPr lang="ru-RU" dirty="0"/>
              <a:t>, </a:t>
            </a:r>
            <a:r>
              <a:rPr lang="ru-RU" dirty="0" err="1"/>
              <a:t>обліком</a:t>
            </a:r>
            <a:r>
              <a:rPr lang="ru-RU" dirty="0"/>
              <a:t> та </a:t>
            </a:r>
            <a:r>
              <a:rPr lang="ru-RU" dirty="0" err="1"/>
              <a:t>комунікацією</a:t>
            </a:r>
            <a:r>
              <a:rPr lang="ru-RU" dirty="0"/>
              <a:t> в центрах </a:t>
            </a:r>
            <a:r>
              <a:rPr lang="ru-RU" dirty="0" err="1"/>
              <a:t>дитячого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r>
              <a:rPr lang="ru-RU" dirty="0"/>
              <a:t>.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918587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Постановка задачі та опис системи</a:t>
            </a:r>
            <a:endParaRPr sz="3200" dirty="0"/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481914"/>
            <a:ext cx="8520600" cy="41726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dirty="0"/>
              <a:t>Комплексна </a:t>
            </a:r>
            <a:r>
              <a:rPr lang="ru-RU" dirty="0" err="1"/>
              <a:t>кваліфікаційна</a:t>
            </a:r>
            <a:r>
              <a:rPr lang="ru-RU" dirty="0"/>
              <a:t> робота </a:t>
            </a:r>
            <a:r>
              <a:rPr lang="ru-RU" dirty="0" err="1"/>
              <a:t>складається</a:t>
            </a:r>
            <a:r>
              <a:rPr lang="ru-RU" dirty="0"/>
              <a:t> з </a:t>
            </a:r>
            <a:r>
              <a:rPr lang="ru-RU" dirty="0" err="1"/>
              <a:t>серверної</a:t>
            </a:r>
            <a:r>
              <a:rPr lang="ru-RU" dirty="0"/>
              <a:t> </a:t>
            </a:r>
            <a:r>
              <a:rPr lang="ru-RU" dirty="0" err="1"/>
              <a:t>частини</a:t>
            </a:r>
            <a:r>
              <a:rPr lang="ru-RU" dirty="0"/>
              <a:t>, </a:t>
            </a:r>
            <a:r>
              <a:rPr lang="ru-RU" dirty="0" err="1"/>
              <a:t>бази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, </a:t>
            </a:r>
            <a:r>
              <a:rPr lang="ru-RU" dirty="0" err="1"/>
              <a:t>клієнтської</a:t>
            </a:r>
            <a:r>
              <a:rPr lang="ru-RU" dirty="0"/>
              <a:t> </a:t>
            </a:r>
            <a:r>
              <a:rPr lang="ru-RU" dirty="0" err="1"/>
              <a:t>частини</a:t>
            </a:r>
            <a:r>
              <a:rPr lang="ru-RU" dirty="0"/>
              <a:t> та </a:t>
            </a:r>
            <a:r>
              <a:rPr lang="ru-RU" dirty="0" err="1"/>
              <a:t>мобільного</a:t>
            </a:r>
            <a:r>
              <a:rPr lang="ru-RU" dirty="0"/>
              <a:t> </a:t>
            </a:r>
            <a:r>
              <a:rPr lang="ru-RU" dirty="0" err="1"/>
              <a:t>застосунку</a:t>
            </a:r>
            <a:r>
              <a:rPr lang="ru-RU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Очікуваний основний функціонал системи: керування всіма даними (користувачів системи, дітей, гуртків, груп, центрів); перегляд розкладу; заповнення форми заявки на пробне заняття; обмін повідомленнями в чатах; керування матеріалами; ведення обліку відвідуваності.</a:t>
            </a:r>
            <a:endParaRPr lang="en-US" dirty="0"/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Завдання даної роботи: розробка серверної частини, бази даних та частини функціоналу мобільного застосунку</a:t>
            </a:r>
            <a:r>
              <a:rPr lang="en-US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Серверна частина забезпечує: обробку </a:t>
            </a:r>
            <a:r>
              <a:rPr lang="en-US" dirty="0"/>
              <a:t>HTTP-</a:t>
            </a:r>
            <a:r>
              <a:rPr lang="uk-UA" dirty="0"/>
              <a:t>запитів, бізнес-логіку, автентифікацію та авторизацію, взаємодію з БД, інтеграцію з зовнішніми сервісами</a:t>
            </a:r>
            <a:r>
              <a:rPr lang="en-US" dirty="0"/>
              <a:t>.</a:t>
            </a:r>
          </a:p>
          <a:p>
            <a:pPr marL="0" lvl="0" indent="0" algn="just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uk-UA" dirty="0"/>
              <a:t>Мобільний застосунок реалізує: автентифікацію користувачів, перегляд розкладу занять, профіль користувача, </a:t>
            </a:r>
            <a:r>
              <a:rPr lang="en-US" dirty="0"/>
              <a:t>push-</a:t>
            </a:r>
            <a:r>
              <a:rPr lang="uk-UA" dirty="0"/>
              <a:t>сповіщення про зміни в розкладі.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Проєктування програмного забезпечення</a:t>
            </a:r>
            <a:endParaRPr sz="3200" dirty="0"/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8DE4B-9FDA-4144-860F-94EFFD717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1908604"/>
            <a:ext cx="3068454" cy="1326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A407EAA-018E-47E9-857B-5B634D4EE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2961" y="547568"/>
            <a:ext cx="5485279" cy="4393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4675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Вибір технологій розробки </a:t>
            </a:r>
            <a:endParaRPr sz="3200" dirty="0"/>
          </a:p>
        </p:txBody>
      </p:sp>
      <p:sp>
        <p:nvSpPr>
          <p:cNvPr id="93" name="Google Shape;93;p17"/>
          <p:cNvSpPr txBox="1">
            <a:spLocks noGrp="1"/>
          </p:cNvSpPr>
          <p:nvPr>
            <p:ph type="body" idx="1"/>
          </p:nvPr>
        </p:nvSpPr>
        <p:spPr>
          <a:xfrm>
            <a:off x="311700" y="601282"/>
            <a:ext cx="8520600" cy="3940935"/>
          </a:xfrm>
          <a:prstGeom prst="rect">
            <a:avLst/>
          </a:prstGeom>
        </p:spPr>
        <p:txBody>
          <a:bodyPr spcFirstLastPara="1" wrap="square" lIns="91425" tIns="91425" rIns="91425" bIns="91425" numCol="1" spcCol="360000" anchor="t" anchorCtr="0">
            <a:noAutofit/>
          </a:bodyPr>
          <a:lstStyle/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ASP.NET Core Web API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реалізація серверної частини та обробка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HTTP-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запитів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Entity Framework Core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робота з базою даних та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ORM-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модель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JWT (JSON Web Token)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автентифікація та авторизація користувачів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 err="1">
                <a:solidFill>
                  <a:srgbClr val="0D0D0D"/>
                </a:solidFill>
                <a:highlight>
                  <a:srgbClr val="FFFFFF"/>
                </a:highlight>
              </a:rPr>
              <a:t>SignalR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обмін даними в режимі реального часу (чати, оновлення)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Microsoft SQL Server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реляційна база даних для зберігання інформації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indent="-285750" algn="just">
              <a:lnSpc>
                <a:spcPct val="100000"/>
              </a:lnSpc>
              <a:spcBef>
                <a:spcPts val="1500"/>
              </a:spcBef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Android (Kotlin)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розробка мобільного застосунку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Jetpack Compose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побудова сучасного 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UI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мобільного застосунку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Firebase Cloud Messaging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push-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сповіщення на пристрої користувачів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;</a:t>
            </a:r>
            <a:endParaRPr lang="uk-UA" sz="1400" dirty="0">
              <a:solidFill>
                <a:srgbClr val="0D0D0D"/>
              </a:solidFill>
              <a:highlight>
                <a:srgbClr val="FFFFFF"/>
              </a:highlight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Font typeface="Open Sans" panose="020B0606030504020204" pitchFamily="34" charset="0"/>
              <a:buChar char="–"/>
            </a:pP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Cloudinary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–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 </a:t>
            </a:r>
            <a:r>
              <a:rPr lang="uk-UA" sz="1400" dirty="0">
                <a:solidFill>
                  <a:srgbClr val="0D0D0D"/>
                </a:solidFill>
                <a:highlight>
                  <a:srgbClr val="FFFFFF"/>
                </a:highlight>
              </a:rPr>
              <a:t>зберігання та доставка </a:t>
            </a:r>
            <a:r>
              <a:rPr lang="uk-UA" sz="1400" dirty="0" err="1">
                <a:solidFill>
                  <a:srgbClr val="0D0D0D"/>
                </a:solidFill>
                <a:highlight>
                  <a:srgbClr val="FFFFFF"/>
                </a:highlight>
              </a:rPr>
              <a:t>медіафайлів</a:t>
            </a:r>
            <a:r>
              <a:rPr lang="en-US" sz="1400" dirty="0">
                <a:solidFill>
                  <a:srgbClr val="0D0D0D"/>
                </a:solidFill>
                <a:highlight>
                  <a:srgbClr val="FFFFFF"/>
                </a:highlight>
              </a:rPr>
              <a:t>.</a:t>
            </a:r>
            <a:endParaRPr sz="1400" dirty="0">
              <a:latin typeface="Economica" panose="020B0604020202020204" charset="0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створеного програмного забезпечення</a:t>
            </a:r>
            <a:endParaRPr sz="3200" dirty="0"/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8" name="Google Shape;107;p19">
            <a:extLst>
              <a:ext uri="{FF2B5EF4-FFF2-40B4-BE49-F238E27FC236}">
                <a16:creationId xmlns:a16="http://schemas.microsoft.com/office/drawing/2014/main" id="{CC9595B8-42F1-40A4-8B8C-C7D13843AB7C}"/>
              </a:ext>
            </a:extLst>
          </p:cNvPr>
          <p:cNvSpPr txBox="1">
            <a:spLocks/>
          </p:cNvSpPr>
          <p:nvPr/>
        </p:nvSpPr>
        <p:spPr>
          <a:xfrm>
            <a:off x="2551852" y="3819074"/>
            <a:ext cx="3464738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UML-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діаграма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розгортування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endParaRPr lang="ru-RU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3B789A-DFBC-496B-BD39-AE4B4436FA5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818884" y="1180959"/>
            <a:ext cx="7246184" cy="2859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4" y="349659"/>
            <a:ext cx="8559543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Архітектура створеного програмного забезпечення. Серверна частина</a:t>
            </a:r>
            <a:endParaRPr sz="3200" dirty="0"/>
          </a:p>
        </p:txBody>
      </p:sp>
      <p:sp>
        <p:nvSpPr>
          <p:cNvPr id="100" name="Google Shape;100;p18"/>
          <p:cNvSpPr txBox="1">
            <a:spLocks noGrp="1"/>
          </p:cNvSpPr>
          <p:nvPr>
            <p:ph type="body" idx="1"/>
          </p:nvPr>
        </p:nvSpPr>
        <p:spPr>
          <a:xfrm>
            <a:off x="422823" y="1233732"/>
            <a:ext cx="4531884" cy="34166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 algn="just">
              <a:lnSpc>
                <a:spcPct val="100000"/>
              </a:lnSpc>
              <a:spcAft>
                <a:spcPts val="1500"/>
              </a:spcAft>
              <a:buFont typeface="Open Sans" panose="020B0606030504020204" pitchFamily="34" charset="0"/>
              <a:buChar char="–"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серверну частину програмної системи реалізовано відповідно до принципів багатошарової архітектури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;</a:t>
            </a:r>
          </a:p>
          <a:p>
            <a:pPr marL="285750" indent="-285750" algn="just">
              <a:lnSpc>
                <a:spcPct val="100000"/>
              </a:lnSpc>
              <a:spcAft>
                <a:spcPts val="1500"/>
              </a:spcAft>
              <a:buFont typeface="Open Sans" panose="020B0606030504020204" pitchFamily="34" charset="0"/>
              <a:buChar char="–"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 межах системи використано </a:t>
            </a:r>
            <a:r>
              <a:rPr lang="uk-UA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трирівневу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архітектуру: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представлення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бізнес-логіки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і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рівень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доступу до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даних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uk-UA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DC9CF80-B51F-400E-BF0F-EDE902664265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69489" y="1093800"/>
            <a:ext cx="2151072" cy="3352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526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Структура бази даних</a:t>
            </a:r>
            <a:endParaRPr sz="3200" dirty="0"/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8448A10-2209-4041-BA78-F828D665EB2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698880" y="634641"/>
            <a:ext cx="5585429" cy="407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8793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Опис програмного забезпечення, що було використано</a:t>
            </a:r>
            <a:endParaRPr sz="3200" dirty="0"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561820" y="2307637"/>
            <a:ext cx="1682445" cy="8313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Visual Studio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pic>
        <p:nvPicPr>
          <p:cNvPr id="2050" name="Picture 2" descr="Visual Studio 2022 Download - ComputerBase">
            <a:extLst>
              <a:ext uri="{FF2B5EF4-FFF2-40B4-BE49-F238E27FC236}">
                <a16:creationId xmlns:a16="http://schemas.microsoft.com/office/drawing/2014/main" id="{2C18BB4C-29D1-4323-A7FA-A97DFF514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37" y="1302681"/>
            <a:ext cx="1088230" cy="1088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D6A3BA0-EB48-4ED8-86B8-A17CDF756DD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1682" t="14011" r="19623" b="16495"/>
          <a:stretch/>
        </p:blipFill>
        <p:spPr>
          <a:xfrm>
            <a:off x="2890159" y="1310539"/>
            <a:ext cx="920787" cy="1090177"/>
          </a:xfrm>
          <a:prstGeom prst="rect">
            <a:avLst/>
          </a:prstGeom>
        </p:spPr>
      </p:pic>
      <p:pic>
        <p:nvPicPr>
          <p:cNvPr id="2054" name="Picture 6" descr="What is SQL Server Management Studio (SSMS) and How to Install it? | by  Ahmet ORHAN | DevOps.dev">
            <a:extLst>
              <a:ext uri="{FF2B5EF4-FFF2-40B4-BE49-F238E27FC236}">
                <a16:creationId xmlns:a16="http://schemas.microsoft.com/office/drawing/2014/main" id="{051B3F35-8B96-474E-8A39-C991FF0F2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831" y="1143700"/>
            <a:ext cx="1406192" cy="1406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SP.NET Core Swagger UI Authorization using IdentityServer4">
            <a:extLst>
              <a:ext uri="{FF2B5EF4-FFF2-40B4-BE49-F238E27FC236}">
                <a16:creationId xmlns:a16="http://schemas.microsoft.com/office/drawing/2014/main" id="{813AAB84-5386-4E41-9BD2-E94FB6B0D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2102" y="3403822"/>
            <a:ext cx="2393189" cy="6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D846394-4223-4D33-A667-BB9E1A8445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593" y="1278897"/>
            <a:ext cx="1145325" cy="1145325"/>
          </a:xfrm>
          <a:prstGeom prst="rect">
            <a:avLst/>
          </a:prstGeom>
        </p:spPr>
      </p:pic>
      <p:pic>
        <p:nvPicPr>
          <p:cNvPr id="2060" name="Picture 12" descr="How To Upload Multiple files to Cloudinary in Nodejs using Promise.all |  Codementor">
            <a:extLst>
              <a:ext uri="{FF2B5EF4-FFF2-40B4-BE49-F238E27FC236}">
                <a16:creationId xmlns:a16="http://schemas.microsoft.com/office/drawing/2014/main" id="{A836A828-E96A-41D3-B0A6-DE5A31627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407" y="3508485"/>
            <a:ext cx="2374900" cy="4547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Firebase expands to become a unified app platform - Google Developers Blog">
            <a:extLst>
              <a:ext uri="{FF2B5EF4-FFF2-40B4-BE49-F238E27FC236}">
                <a16:creationId xmlns:a16="http://schemas.microsoft.com/office/drawing/2014/main" id="{115F09DF-78D8-4F33-9150-09618147B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8" t="19890" r="11740" b="25238"/>
          <a:stretch/>
        </p:blipFill>
        <p:spPr bwMode="auto">
          <a:xfrm>
            <a:off x="3306252" y="3342597"/>
            <a:ext cx="1959764" cy="7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Google Shape;107;p19">
            <a:extLst>
              <a:ext uri="{FF2B5EF4-FFF2-40B4-BE49-F238E27FC236}">
                <a16:creationId xmlns:a16="http://schemas.microsoft.com/office/drawing/2014/main" id="{5DBC75D1-1ADD-4797-B60C-360EC11A789A}"/>
              </a:ext>
            </a:extLst>
          </p:cNvPr>
          <p:cNvSpPr txBox="1">
            <a:spLocks/>
          </p:cNvSpPr>
          <p:nvPr/>
        </p:nvSpPr>
        <p:spPr>
          <a:xfrm>
            <a:off x="2454399" y="2307637"/>
            <a:ext cx="1803064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Android Studio</a:t>
            </a:r>
          </a:p>
        </p:txBody>
      </p:sp>
      <p:sp>
        <p:nvSpPr>
          <p:cNvPr id="16" name="Google Shape;107;p19">
            <a:extLst>
              <a:ext uri="{FF2B5EF4-FFF2-40B4-BE49-F238E27FC236}">
                <a16:creationId xmlns:a16="http://schemas.microsoft.com/office/drawing/2014/main" id="{BB8C4B8F-23AD-4920-8429-8C1C0C202522}"/>
              </a:ext>
            </a:extLst>
          </p:cNvPr>
          <p:cNvSpPr txBox="1">
            <a:spLocks/>
          </p:cNvSpPr>
          <p:nvPr/>
        </p:nvSpPr>
        <p:spPr>
          <a:xfrm>
            <a:off x="4318174" y="2216996"/>
            <a:ext cx="2393189" cy="831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SQL Server Management Studio</a:t>
            </a:r>
          </a:p>
        </p:txBody>
      </p:sp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961CD5E7-79F6-4C3F-A037-5399F038DE03}"/>
              </a:ext>
            </a:extLst>
          </p:cNvPr>
          <p:cNvSpPr txBox="1">
            <a:spLocks/>
          </p:cNvSpPr>
          <p:nvPr/>
        </p:nvSpPr>
        <p:spPr>
          <a:xfrm>
            <a:off x="7145792" y="2304598"/>
            <a:ext cx="1062926" cy="826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GitHub</a:t>
            </a:r>
          </a:p>
        </p:txBody>
      </p:sp>
    </p:spTree>
    <p:extLst>
      <p:ext uri="{BB962C8B-B14F-4D97-AF65-F5344CB8AC3E}">
        <p14:creationId xmlns:p14="http://schemas.microsoft.com/office/powerpoint/2010/main" val="206451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27CA5E5-BCA4-4CEA-BE2A-A879088B6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416" y="1441318"/>
            <a:ext cx="6373167" cy="2768732"/>
          </a:xfrm>
          <a:prstGeom prst="rect">
            <a:avLst/>
          </a:prstGeom>
        </p:spPr>
      </p:pic>
      <p:sp>
        <p:nvSpPr>
          <p:cNvPr id="9" name="Google Shape;107;p19">
            <a:extLst>
              <a:ext uri="{FF2B5EF4-FFF2-40B4-BE49-F238E27FC236}">
                <a16:creationId xmlns:a16="http://schemas.microsoft.com/office/drawing/2014/main" id="{DE0F0E75-6171-4FC8-A810-AECCD994C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4660" y="590726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Алгоритм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перевірки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прав доступу з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розмежуванням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даних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Приклад реалізації</a:t>
            </a:r>
            <a:endParaRPr sz="3200" dirty="0"/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13</a:t>
            </a:fld>
            <a:endParaRPr lang="uk-UA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5E3CEB1-0B30-4A00-918E-568A629CB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4223" y="1423115"/>
            <a:ext cx="4606700" cy="3306649"/>
          </a:xfrm>
          <a:prstGeom prst="rect">
            <a:avLst/>
          </a:prstGeom>
        </p:spPr>
      </p:pic>
      <p:sp>
        <p:nvSpPr>
          <p:cNvPr id="11" name="Google Shape;107;p19">
            <a:extLst>
              <a:ext uri="{FF2B5EF4-FFF2-40B4-BE49-F238E27FC236}">
                <a16:creationId xmlns:a16="http://schemas.microsoft.com/office/drawing/2014/main" id="{6EC8F544-8E77-4ADF-9514-C1039104D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33977" y="487880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Алгоритм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отримання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ідентифікатора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ресурсу з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URL-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адреси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хмарного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сховища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Cloudinary</a:t>
            </a: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8530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користувача. Серверна частина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14</a:t>
            </a:fld>
            <a:endParaRPr lang="uk-UA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7D5B9F4-BC89-42AD-8F23-42916D17D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674" y="653446"/>
            <a:ext cx="3631949" cy="158246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533E8C4-983E-4F9F-81FA-28811C99E1F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6061"/>
          <a:stretch/>
        </p:blipFill>
        <p:spPr>
          <a:xfrm>
            <a:off x="4944147" y="653446"/>
            <a:ext cx="3502157" cy="3409838"/>
          </a:xfrm>
          <a:prstGeom prst="rect">
            <a:avLst/>
          </a:prstGeom>
        </p:spPr>
      </p:pic>
      <p:sp>
        <p:nvSpPr>
          <p:cNvPr id="13" name="Google Shape;107;p19">
            <a:extLst>
              <a:ext uri="{FF2B5EF4-FFF2-40B4-BE49-F238E27FC236}">
                <a16:creationId xmlns:a16="http://schemas.microsoft.com/office/drawing/2014/main" id="{16AEBAEF-7D51-420A-A1AC-BF4960213A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8951" y="1943300"/>
            <a:ext cx="4735196" cy="641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Автентифікація адміністратора системи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7;p19">
            <a:extLst>
              <a:ext uri="{FF2B5EF4-FFF2-40B4-BE49-F238E27FC236}">
                <a16:creationId xmlns:a16="http://schemas.microsoft.com/office/drawing/2014/main" id="{96175ABE-A5AF-42CD-91A9-2012C09541A1}"/>
              </a:ext>
            </a:extLst>
          </p:cNvPr>
          <p:cNvSpPr txBox="1">
            <a:spLocks/>
          </p:cNvSpPr>
          <p:nvPr/>
        </p:nvSpPr>
        <p:spPr>
          <a:xfrm>
            <a:off x="5307863" y="3887591"/>
            <a:ext cx="2838748" cy="88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Список зареєстрованих дитячих центрів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C2ECED-A4EA-4096-8E27-847468FCDF2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6408"/>
          <a:stretch/>
        </p:blipFill>
        <p:spPr>
          <a:xfrm>
            <a:off x="1687642" y="2597661"/>
            <a:ext cx="2655948" cy="1887586"/>
          </a:xfrm>
          <a:prstGeom prst="rect">
            <a:avLst/>
          </a:prstGeom>
        </p:spPr>
      </p:pic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24A1FCFD-6567-469E-B771-42004AF83571}"/>
              </a:ext>
            </a:extLst>
          </p:cNvPr>
          <p:cNvSpPr txBox="1">
            <a:spLocks/>
          </p:cNvSpPr>
          <p:nvPr/>
        </p:nvSpPr>
        <p:spPr>
          <a:xfrm>
            <a:off x="1297174" y="4216471"/>
            <a:ext cx="3327548" cy="940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ctr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Редагування даних дитини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186374" y="-143620"/>
            <a:ext cx="8875076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Інтерфейс користувача. Мобільний застосунок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15</a:t>
            </a:fld>
            <a:endParaRPr lang="uk-UA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2262F0-C635-4E2A-AD51-4BB5E9038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9691" y="687680"/>
            <a:ext cx="1540382" cy="324516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6210C8-97A0-4388-B4FF-ECF77E707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57" y="683401"/>
            <a:ext cx="1549860" cy="3249446"/>
          </a:xfrm>
          <a:prstGeom prst="rect">
            <a:avLst/>
          </a:prstGeom>
        </p:spPr>
      </p:pic>
      <p:sp>
        <p:nvSpPr>
          <p:cNvPr id="9" name="Google Shape;107;p19">
            <a:extLst>
              <a:ext uri="{FF2B5EF4-FFF2-40B4-BE49-F238E27FC236}">
                <a16:creationId xmlns:a16="http://schemas.microsoft.com/office/drawing/2014/main" id="{99F6A503-C373-4017-BFFE-83DA96101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22" y="3770711"/>
            <a:ext cx="2023253" cy="5817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Екран автентифікації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61AD99D-28D1-430D-A81D-634C79548B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2624" y="683401"/>
            <a:ext cx="1576011" cy="3245167"/>
          </a:xfrm>
          <a:prstGeom prst="rect">
            <a:avLst/>
          </a:prstGeom>
        </p:spPr>
      </p:pic>
      <p:sp>
        <p:nvSpPr>
          <p:cNvPr id="16" name="Google Shape;107;p19">
            <a:extLst>
              <a:ext uri="{FF2B5EF4-FFF2-40B4-BE49-F238E27FC236}">
                <a16:creationId xmlns:a16="http://schemas.microsoft.com/office/drawing/2014/main" id="{487593A2-A7EE-4456-9CA1-0801CE2C37E9}"/>
              </a:ext>
            </a:extLst>
          </p:cNvPr>
          <p:cNvSpPr txBox="1">
            <a:spLocks/>
          </p:cNvSpPr>
          <p:nvPr/>
        </p:nvSpPr>
        <p:spPr>
          <a:xfrm>
            <a:off x="2322178" y="3770711"/>
            <a:ext cx="1540382" cy="641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Розклад занять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Google Shape;107;p19">
            <a:extLst>
              <a:ext uri="{FF2B5EF4-FFF2-40B4-BE49-F238E27FC236}">
                <a16:creationId xmlns:a16="http://schemas.microsoft.com/office/drawing/2014/main" id="{89BF0CD7-89BD-446F-ACCC-B92215E6B9F7}"/>
              </a:ext>
            </a:extLst>
          </p:cNvPr>
          <p:cNvSpPr txBox="1">
            <a:spLocks/>
          </p:cNvSpPr>
          <p:nvPr/>
        </p:nvSpPr>
        <p:spPr>
          <a:xfrm>
            <a:off x="3941696" y="3770711"/>
            <a:ext cx="2058759" cy="6411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Профіль користувача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E0C209-CE14-4035-9CD7-EB541981095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40392"/>
          <a:stretch/>
        </p:blipFill>
        <p:spPr>
          <a:xfrm>
            <a:off x="6256407" y="706635"/>
            <a:ext cx="2039787" cy="121848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686C6BA-23BA-4FDF-AC70-10716F8D733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39142"/>
          <a:stretch/>
        </p:blipFill>
        <p:spPr>
          <a:xfrm>
            <a:off x="6283987" y="2594954"/>
            <a:ext cx="2035381" cy="1195412"/>
          </a:xfrm>
          <a:prstGeom prst="rect">
            <a:avLst/>
          </a:prstGeom>
        </p:spPr>
      </p:pic>
      <p:sp>
        <p:nvSpPr>
          <p:cNvPr id="13" name="Google Shape;107;p19">
            <a:extLst>
              <a:ext uri="{FF2B5EF4-FFF2-40B4-BE49-F238E27FC236}">
                <a16:creationId xmlns:a16="http://schemas.microsoft.com/office/drawing/2014/main" id="{20E8B6DE-C174-403B-949F-2C90C07E7D59}"/>
              </a:ext>
            </a:extLst>
          </p:cNvPr>
          <p:cNvSpPr txBox="1">
            <a:spLocks/>
          </p:cNvSpPr>
          <p:nvPr/>
        </p:nvSpPr>
        <p:spPr>
          <a:xfrm>
            <a:off x="6058119" y="1686079"/>
            <a:ext cx="2541603" cy="5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Push</a:t>
            </a: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-сповіщення про нове заняття (згорнутий вигляд)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Google Shape;107;p19">
            <a:extLst>
              <a:ext uri="{FF2B5EF4-FFF2-40B4-BE49-F238E27FC236}">
                <a16:creationId xmlns:a16="http://schemas.microsoft.com/office/drawing/2014/main" id="{2D91EF75-B501-4922-BC96-F173BD9DBADC}"/>
              </a:ext>
            </a:extLst>
          </p:cNvPr>
          <p:cNvSpPr txBox="1">
            <a:spLocks/>
          </p:cNvSpPr>
          <p:nvPr/>
        </p:nvSpPr>
        <p:spPr>
          <a:xfrm>
            <a:off x="6075442" y="3594484"/>
            <a:ext cx="2773001" cy="58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 eaLnBrk="1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indent="0" algn="just">
              <a:spcBef>
                <a:spcPts val="1500"/>
              </a:spcBef>
              <a:spcAft>
                <a:spcPts val="1200"/>
              </a:spcAft>
              <a:buFont typeface="Open Sans"/>
              <a:buNone/>
            </a:pPr>
            <a:r>
              <a:rPr lang="en-US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Push</a:t>
            </a:r>
            <a:r>
              <a:rPr lang="uk-UA" sz="1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-сповіщення про нове заняття (розгорнутий вигляд)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942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Тестування</a:t>
            </a:r>
            <a:endParaRPr sz="3200" dirty="0"/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16</a:t>
            </a:fld>
            <a:endParaRPr lang="uk-UA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9CC6C18-2A19-4628-8782-F282C3D77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97" y="1121000"/>
            <a:ext cx="4075032" cy="32385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0A51AE5-252C-4EA9-B4DE-565E9EC037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8156" y="1117998"/>
            <a:ext cx="4075032" cy="3241502"/>
          </a:xfrm>
          <a:prstGeom prst="rect">
            <a:avLst/>
          </a:prstGeom>
        </p:spPr>
      </p:pic>
      <p:sp>
        <p:nvSpPr>
          <p:cNvPr id="19" name="Google Shape;107;p19">
            <a:extLst>
              <a:ext uri="{FF2B5EF4-FFF2-40B4-BE49-F238E27FC236}">
                <a16:creationId xmlns:a16="http://schemas.microsoft.com/office/drawing/2014/main" id="{CD9CF7DA-C4B3-40B0-B56E-5AEE572E0D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8925" y="466692"/>
            <a:ext cx="8444263" cy="1126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1500"/>
              </a:spcBef>
              <a:spcAft>
                <a:spcPts val="1200"/>
              </a:spcAft>
              <a:buNone/>
            </a:pP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Приклади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тест-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кейсів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для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серверної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частини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та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мобільного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застосунку</a:t>
            </a:r>
            <a:r>
              <a:rPr lang="ru-RU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9422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3200" dirty="0"/>
              <a:t>Підсумки </a:t>
            </a:r>
            <a:endParaRPr sz="3200" dirty="0"/>
          </a:p>
        </p:txBody>
      </p:sp>
      <p:sp>
        <p:nvSpPr>
          <p:cNvPr id="142" name="Google Shape;142;p24"/>
          <p:cNvSpPr txBox="1">
            <a:spLocks noGrp="1"/>
          </p:cNvSpPr>
          <p:nvPr>
            <p:ph type="body" idx="1"/>
          </p:nvPr>
        </p:nvSpPr>
        <p:spPr>
          <a:xfrm>
            <a:off x="311700" y="672477"/>
            <a:ext cx="8520600" cy="38616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Розроблена </a:t>
            </a:r>
            <a:r>
              <a:rPr lang="ru-RU" dirty="0" err="1"/>
              <a:t>програмна</a:t>
            </a:r>
            <a:r>
              <a:rPr lang="ru-RU" dirty="0"/>
              <a:t> система «</a:t>
            </a:r>
            <a:r>
              <a:rPr lang="en-US" dirty="0" err="1"/>
              <a:t>ChildSpace</a:t>
            </a:r>
            <a:r>
              <a:rPr lang="en-US" dirty="0"/>
              <a:t>» </a:t>
            </a:r>
            <a:r>
              <a:rPr lang="ru-RU" dirty="0"/>
              <a:t>є </a:t>
            </a:r>
            <a:r>
              <a:rPr lang="ru-RU" dirty="0" err="1"/>
              <a:t>клієнт-серверним</a:t>
            </a:r>
            <a:r>
              <a:rPr lang="ru-RU" dirty="0"/>
              <a:t> </a:t>
            </a:r>
            <a:r>
              <a:rPr lang="ru-RU" dirty="0" err="1"/>
              <a:t>рішенням</a:t>
            </a:r>
            <a:r>
              <a:rPr lang="ru-RU" dirty="0"/>
              <a:t>, готовим до </a:t>
            </a:r>
            <a:r>
              <a:rPr lang="ru-RU" dirty="0" err="1"/>
              <a:t>впровадження</a:t>
            </a:r>
            <a:r>
              <a:rPr lang="ru-RU" dirty="0"/>
              <a:t> у центрах </a:t>
            </a:r>
            <a:r>
              <a:rPr lang="ru-RU" dirty="0" err="1"/>
              <a:t>дитячого</a:t>
            </a:r>
            <a:r>
              <a:rPr lang="ru-RU" dirty="0"/>
              <a:t> </a:t>
            </a:r>
            <a:r>
              <a:rPr lang="ru-RU" dirty="0" err="1"/>
              <a:t>розвитку</a:t>
            </a:r>
            <a:r>
              <a:rPr lang="ru-RU" dirty="0"/>
              <a:t>.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У межах </a:t>
            </a:r>
            <a:r>
              <a:rPr lang="ru-RU" dirty="0" err="1"/>
              <a:t>кваліфікаційної</a:t>
            </a:r>
            <a:r>
              <a:rPr lang="ru-RU" dirty="0"/>
              <a:t> </a:t>
            </a:r>
            <a:r>
              <a:rPr lang="ru-RU" dirty="0" err="1"/>
              <a:t>роботи</a:t>
            </a:r>
            <a:r>
              <a:rPr lang="ru-RU" dirty="0"/>
              <a:t> </a:t>
            </a:r>
            <a:r>
              <a:rPr lang="ru-RU" dirty="0" err="1"/>
              <a:t>повністю</a:t>
            </a:r>
            <a:r>
              <a:rPr lang="ru-RU" dirty="0"/>
              <a:t> </a:t>
            </a:r>
            <a:r>
              <a:rPr lang="ru-RU" dirty="0" err="1"/>
              <a:t>реалізовано</a:t>
            </a:r>
            <a:r>
              <a:rPr lang="ru-RU" dirty="0"/>
              <a:t> </a:t>
            </a:r>
            <a:r>
              <a:rPr lang="ru-RU" dirty="0" err="1"/>
              <a:t>серверну</a:t>
            </a:r>
            <a:r>
              <a:rPr lang="ru-RU" dirty="0"/>
              <a:t> </a:t>
            </a:r>
            <a:r>
              <a:rPr lang="ru-RU" dirty="0" err="1"/>
              <a:t>частину</a:t>
            </a:r>
            <a:r>
              <a:rPr lang="ru-RU" dirty="0"/>
              <a:t> на </a:t>
            </a:r>
            <a:r>
              <a:rPr lang="ru-RU" dirty="0" err="1"/>
              <a:t>базі</a:t>
            </a:r>
            <a:r>
              <a:rPr lang="ru-RU" dirty="0"/>
              <a:t> </a:t>
            </a:r>
            <a:r>
              <a:rPr lang="en-US" dirty="0"/>
              <a:t>ASP.NET Core, </a:t>
            </a:r>
            <a:r>
              <a:rPr lang="ru-RU" dirty="0" err="1"/>
              <a:t>спроєктовано</a:t>
            </a:r>
            <a:r>
              <a:rPr lang="ru-RU" dirty="0"/>
              <a:t> </a:t>
            </a:r>
            <a:r>
              <a:rPr lang="ru-RU" dirty="0" err="1"/>
              <a:t>реляційну</a:t>
            </a:r>
            <a:r>
              <a:rPr lang="ru-RU" dirty="0"/>
              <a:t> базу </a:t>
            </a:r>
            <a:r>
              <a:rPr lang="ru-RU" dirty="0" err="1"/>
              <a:t>даних</a:t>
            </a:r>
            <a:r>
              <a:rPr lang="ru-RU" dirty="0"/>
              <a:t> та </a:t>
            </a:r>
            <a:r>
              <a:rPr lang="ru-RU" dirty="0" err="1"/>
              <a:t>впроваджено</a:t>
            </a:r>
            <a:r>
              <a:rPr lang="ru-RU" dirty="0"/>
              <a:t> </a:t>
            </a:r>
            <a:r>
              <a:rPr lang="ru-RU" dirty="0" err="1"/>
              <a:t>ключові</a:t>
            </a:r>
            <a:r>
              <a:rPr lang="ru-RU" dirty="0"/>
              <a:t> </a:t>
            </a:r>
            <a:r>
              <a:rPr lang="ru-RU" dirty="0" err="1"/>
              <a:t>модулі</a:t>
            </a:r>
            <a:r>
              <a:rPr lang="ru-RU" dirty="0"/>
              <a:t> </a:t>
            </a:r>
            <a:r>
              <a:rPr lang="ru-RU" dirty="0" err="1"/>
              <a:t>мобільного</a:t>
            </a:r>
            <a:r>
              <a:rPr lang="ru-RU" dirty="0"/>
              <a:t> </a:t>
            </a:r>
            <a:r>
              <a:rPr lang="ru-RU" dirty="0" err="1"/>
              <a:t>застосунку</a:t>
            </a:r>
            <a:r>
              <a:rPr lang="ru-RU" dirty="0"/>
              <a:t> для </a:t>
            </a:r>
            <a:r>
              <a:rPr lang="en-US" dirty="0"/>
              <a:t>Android.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/>
              <a:t>Система </a:t>
            </a:r>
            <a:r>
              <a:rPr lang="ru-RU" dirty="0" err="1"/>
              <a:t>забезпечує</a:t>
            </a:r>
            <a:r>
              <a:rPr lang="ru-RU" dirty="0"/>
              <a:t> </a:t>
            </a:r>
            <a:r>
              <a:rPr lang="ru-RU" dirty="0" err="1"/>
              <a:t>централізоване</a:t>
            </a:r>
            <a:r>
              <a:rPr lang="ru-RU" dirty="0"/>
              <a:t> </a:t>
            </a:r>
            <a:r>
              <a:rPr lang="ru-RU" dirty="0" err="1"/>
              <a:t>зберігання</a:t>
            </a:r>
            <a:r>
              <a:rPr lang="ru-RU" dirty="0"/>
              <a:t> </a:t>
            </a:r>
            <a:r>
              <a:rPr lang="ru-RU" dirty="0" err="1"/>
              <a:t>даних</a:t>
            </a:r>
            <a:r>
              <a:rPr lang="ru-RU" dirty="0"/>
              <a:t>, </a:t>
            </a:r>
            <a:r>
              <a:rPr lang="ru-RU" dirty="0" err="1"/>
              <a:t>автоматизацію</a:t>
            </a:r>
            <a:r>
              <a:rPr lang="ru-RU" dirty="0"/>
              <a:t> </a:t>
            </a:r>
            <a:r>
              <a:rPr lang="ru-RU" dirty="0" err="1"/>
              <a:t>розкладу</a:t>
            </a:r>
            <a:r>
              <a:rPr lang="ru-RU" dirty="0"/>
              <a:t> та </a:t>
            </a:r>
            <a:r>
              <a:rPr lang="ru-RU" dirty="0" err="1"/>
              <a:t>безпечну</a:t>
            </a:r>
            <a:r>
              <a:rPr lang="ru-RU" dirty="0"/>
              <a:t> </a:t>
            </a:r>
            <a:r>
              <a:rPr lang="ru-RU" dirty="0" err="1"/>
              <a:t>взаємодію</a:t>
            </a:r>
            <a:r>
              <a:rPr lang="ru-RU" dirty="0"/>
              <a:t> </a:t>
            </a:r>
            <a:r>
              <a:rPr lang="ru-RU" dirty="0" err="1"/>
              <a:t>між</a:t>
            </a:r>
            <a:r>
              <a:rPr lang="ru-RU" dirty="0"/>
              <a:t> </a:t>
            </a:r>
            <a:r>
              <a:rPr lang="ru-RU" dirty="0" err="1"/>
              <a:t>адміністрацією</a:t>
            </a:r>
            <a:r>
              <a:rPr lang="ru-RU" dirty="0"/>
              <a:t>, </a:t>
            </a:r>
            <a:r>
              <a:rPr lang="ru-RU" dirty="0" err="1"/>
              <a:t>викладачами</a:t>
            </a:r>
            <a:r>
              <a:rPr lang="ru-RU" dirty="0"/>
              <a:t> й батьками. </a:t>
            </a:r>
          </a:p>
          <a:p>
            <a:pPr marL="0" lvl="0" indent="0" algn="just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ru-RU" dirty="0" err="1"/>
              <a:t>Подальший</a:t>
            </a:r>
            <a:r>
              <a:rPr lang="ru-RU" dirty="0"/>
              <a:t> </a:t>
            </a:r>
            <a:r>
              <a:rPr lang="ru-RU" dirty="0" err="1"/>
              <a:t>розвиток</a:t>
            </a:r>
            <a:r>
              <a:rPr lang="ru-RU" dirty="0"/>
              <a:t> </a:t>
            </a:r>
            <a:r>
              <a:rPr lang="ru-RU" dirty="0" err="1"/>
              <a:t>системи</a:t>
            </a:r>
            <a:r>
              <a:rPr lang="ru-RU" dirty="0"/>
              <a:t> </a:t>
            </a:r>
            <a:r>
              <a:rPr lang="ru-RU" dirty="0" err="1"/>
              <a:t>можливий</a:t>
            </a:r>
            <a:r>
              <a:rPr lang="ru-RU" dirty="0"/>
              <a:t> шляхом </a:t>
            </a:r>
            <a:r>
              <a:rPr lang="ru-RU" dirty="0" err="1"/>
              <a:t>створення</a:t>
            </a:r>
            <a:r>
              <a:rPr lang="ru-RU" dirty="0"/>
              <a:t> </a:t>
            </a:r>
            <a:r>
              <a:rPr lang="ru-RU" dirty="0" err="1"/>
              <a:t>версії</a:t>
            </a:r>
            <a:r>
              <a:rPr lang="ru-RU" dirty="0"/>
              <a:t> для </a:t>
            </a:r>
            <a:r>
              <a:rPr lang="en-US" dirty="0"/>
              <a:t>iOS, </a:t>
            </a:r>
            <a:r>
              <a:rPr lang="ru-RU" dirty="0" err="1"/>
              <a:t>впровадження</a:t>
            </a:r>
            <a:r>
              <a:rPr lang="ru-RU" dirty="0"/>
              <a:t> модуля </a:t>
            </a:r>
            <a:r>
              <a:rPr lang="ru-RU" dirty="0" err="1"/>
              <a:t>фінансового</a:t>
            </a:r>
            <a:r>
              <a:rPr lang="ru-RU" dirty="0"/>
              <a:t> </a:t>
            </a:r>
            <a:r>
              <a:rPr lang="ru-RU" dirty="0" err="1"/>
              <a:t>обліку</a:t>
            </a:r>
            <a:r>
              <a:rPr lang="ru-RU" dirty="0"/>
              <a:t> та </a:t>
            </a:r>
            <a:r>
              <a:rPr lang="ru-RU" dirty="0" err="1"/>
              <a:t>розширення</a:t>
            </a:r>
            <a:r>
              <a:rPr lang="ru-RU" dirty="0"/>
              <a:t> </a:t>
            </a:r>
            <a:r>
              <a:rPr lang="ru-RU" dirty="0" err="1"/>
              <a:t>функціоналу</a:t>
            </a:r>
            <a:r>
              <a:rPr lang="ru-RU" dirty="0"/>
              <a:t> для </a:t>
            </a:r>
            <a:r>
              <a:rPr lang="ru-RU" dirty="0" err="1"/>
              <a:t>оцінювання</a:t>
            </a:r>
            <a:r>
              <a:rPr lang="ru-RU" dirty="0"/>
              <a:t> </a:t>
            </a:r>
            <a:r>
              <a:rPr lang="ru-RU" dirty="0" err="1"/>
              <a:t>індивідуального</a:t>
            </a:r>
            <a:r>
              <a:rPr lang="ru-RU" dirty="0"/>
              <a:t> </a:t>
            </a:r>
            <a:r>
              <a:rPr lang="ru-RU" dirty="0" err="1"/>
              <a:t>прогресу</a:t>
            </a:r>
            <a:r>
              <a:rPr lang="ru-RU" dirty="0"/>
              <a:t> </a:t>
            </a:r>
            <a:r>
              <a:rPr lang="ru-RU" dirty="0" err="1"/>
              <a:t>дітей</a:t>
            </a:r>
            <a:r>
              <a:rPr lang="ru-RU" dirty="0"/>
              <a:t>.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17</a:t>
            </a:fld>
            <a:endParaRPr lang="uk-UA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Шаблон презентації кваліфікаційної роботи магістрів" id="{72E840FA-3155-46C9-BB37-701E4C9B1C67}" vid="{DC416FE5-D050-4603-AD75-8F49A0CCCB6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1409</TotalTime>
  <Words>727</Words>
  <Application>Microsoft Office PowerPoint</Application>
  <PresentationFormat>Экран (16:9)</PresentationFormat>
  <Paragraphs>83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Economica</vt:lpstr>
      <vt:lpstr>Open Sans</vt:lpstr>
      <vt:lpstr>Шаблон презентації кваліфікаційної роботи магістрів</vt:lpstr>
      <vt:lpstr>Програмна система для центру дитячого розвитку. Веб-застосунок та мобільний додаток для Android. Бекенд</vt:lpstr>
      <vt:lpstr>Мета роботи</vt:lpstr>
      <vt:lpstr>Аналіз проблеми. Аналоги системи</vt:lpstr>
      <vt:lpstr>Аналіз проблеми. Аналіз недоліків</vt:lpstr>
      <vt:lpstr>Постановка задачі та опис системи</vt:lpstr>
      <vt:lpstr>Проєктування програмного забезпечення</vt:lpstr>
      <vt:lpstr>Вибір технологій розробки </vt:lpstr>
      <vt:lpstr>Архітектура створеного програмного забезпечення</vt:lpstr>
      <vt:lpstr>Архітектура створеного програмного забезпечення. Серверна частина</vt:lpstr>
      <vt:lpstr>Структура бази даних</vt:lpstr>
      <vt:lpstr>Опис програмного забезпечення, що було використано</vt:lpstr>
      <vt:lpstr>Приклад реалізації</vt:lpstr>
      <vt:lpstr>Приклад реалізації</vt:lpstr>
      <vt:lpstr>Інтерфейс користувача. Серверна частина</vt:lpstr>
      <vt:lpstr>Інтерфейс користувача. Мобільний застосунок</vt:lpstr>
      <vt:lpstr>Тестування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 роботи</dc:title>
  <dc:creator>Lexin</dc:creator>
  <cp:lastModifiedBy>lenazozula05@gmail.com</cp:lastModifiedBy>
  <cp:revision>61</cp:revision>
  <dcterms:created xsi:type="dcterms:W3CDTF">2024-10-03T11:39:34Z</dcterms:created>
  <dcterms:modified xsi:type="dcterms:W3CDTF">2026-06-20T19:47:15Z</dcterms:modified>
</cp:coreProperties>
</file>