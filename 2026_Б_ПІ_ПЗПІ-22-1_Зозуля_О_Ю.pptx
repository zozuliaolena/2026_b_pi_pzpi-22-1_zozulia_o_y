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9"/>
  </p:notesMasterIdLst>
  <p:sldIdLst>
    <p:sldId id="256" r:id="rId2"/>
    <p:sldId id="257" r:id="rId3"/>
    <p:sldId id="258" r:id="rId4"/>
    <p:sldId id="270" r:id="rId5"/>
    <p:sldId id="259" r:id="rId6"/>
    <p:sldId id="279" r:id="rId7"/>
    <p:sldId id="260" r:id="rId8"/>
    <p:sldId id="261" r:id="rId9"/>
    <p:sldId id="271" r:id="rId10"/>
    <p:sldId id="273" r:id="rId11"/>
    <p:sldId id="275" r:id="rId12"/>
    <p:sldId id="264" r:id="rId13"/>
    <p:sldId id="276" r:id="rId14"/>
    <p:sldId id="265" r:id="rId15"/>
    <p:sldId id="278" r:id="rId16"/>
    <p:sldId id="268" r:id="rId17"/>
    <p:sldId id="267" r:id="rId18"/>
  </p:sldIdLst>
  <p:sldSz cx="9144000" cy="5143500" type="screen16x9"/>
  <p:notesSz cx="6858000" cy="9144000"/>
  <p:embeddedFontLst>
    <p:embeddedFont>
      <p:font typeface="Economica" panose="020B0604020202020204" charset="0"/>
      <p:regular r:id="rId20"/>
      <p:bold r:id="rId21"/>
      <p:italic r:id="rId22"/>
      <p:boldItalic r:id="rId23"/>
    </p:embeddedFont>
    <p:embeddedFont>
      <p:font typeface="Open Sans" panose="020B0606030504020204" pitchFamily="34" charset="0"/>
      <p:regular r:id="rId24"/>
      <p:bold r:id="rId25"/>
      <p:italic r:id="rId26"/>
      <p:boldItalic r:id="rId2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9" d="100"/>
          <a:sy n="119" d="100"/>
        </p:scale>
        <p:origin x="418" y="72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7.fntdata"/><Relationship Id="rId3" Type="http://schemas.openxmlformats.org/officeDocument/2006/relationships/slide" Target="slides/slide2.xml"/><Relationship Id="rId21" Type="http://schemas.openxmlformats.org/officeDocument/2006/relationships/font" Target="fonts/font2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6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1.fntdata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5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4.fntdata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3.fntdata"/><Relationship Id="rId27" Type="http://schemas.openxmlformats.org/officeDocument/2006/relationships/font" Target="fonts/font8.fntdata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710137482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" name="Google Shape;60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20ddf966691_0_16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g20ddf966691_0_16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2e16b2adad1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2e16b2adad1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2e16b2adad1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2e16b2adad1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3087033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2e16b2adad1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" name="Google Shape;83;g2e16b2adad1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2e16b2adad1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" name="Google Shape;83;g2e16b2adad1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186243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2e16b2adad1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2e16b2adad1_0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2e16b2adad1_0_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" name="Google Shape;97;g2e16b2adad1_0_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2e16b2adad1_0_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" name="Google Shape;97;g2e16b2adad1_0_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5848095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2e16b2adad1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2e16b2adad1_0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1296427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2e16b2adad1_0_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4" name="Google Shape;104;g2e16b2adad1_0_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8110500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2e16b2adad1_0_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" name="Google Shape;118;g2e16b2adad1_0_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2e16b2adad1_0_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" name="Google Shape;118;g2e16b2adad1_0_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4202234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2e16b2adad1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" name="Google Shape;125;g2e16b2adad1_0_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2e16b2adad1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" name="Google Shape;125;g2e16b2adad1_0_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2731021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2e16b2adad1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" name="Google Shape;125;g2e16b2adad1_0_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g2e16b2adad1_0_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9" name="Google Shape;139;g2e16b2adad1_0_5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2744013" y="756700"/>
            <a:ext cx="1081625" cy="1124950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</p:sp>
      <p:sp>
        <p:nvSpPr>
          <p:cNvPr id="11" name="Google Shape;11;p2"/>
          <p:cNvSpPr/>
          <p:nvPr/>
        </p:nvSpPr>
        <p:spPr>
          <a:xfrm rot="10800000">
            <a:off x="5318350" y="3266725"/>
            <a:ext cx="1081625" cy="1124950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</p:sp>
      <p:sp>
        <p:nvSpPr>
          <p:cNvPr id="12" name="Google Shape;12;p2"/>
          <p:cNvSpPr txBox="1">
            <a:spLocks noGrp="1"/>
          </p:cNvSpPr>
          <p:nvPr>
            <p:ph type="ctrTitle"/>
          </p:nvPr>
        </p:nvSpPr>
        <p:spPr>
          <a:xfrm>
            <a:off x="3044700" y="1444255"/>
            <a:ext cx="3054600" cy="153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r>
              <a:rPr lang="ru-RU"/>
              <a:t>Образец заголовка</a:t>
            </a:r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ubTitle" idx="1"/>
          </p:nvPr>
        </p:nvSpPr>
        <p:spPr>
          <a:xfrm>
            <a:off x="3044700" y="3116580"/>
            <a:ext cx="3054600" cy="70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r>
              <a:rPr lang="ru-RU"/>
              <a:t>Образец подзаголовка</a:t>
            </a:r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/>
          <p:nvPr/>
        </p:nvSpPr>
        <p:spPr>
          <a:xfrm flipH="1">
            <a:off x="7595938" y="460225"/>
            <a:ext cx="1081625" cy="1124950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</p:sp>
      <p:sp>
        <p:nvSpPr>
          <p:cNvPr id="17" name="Google Shape;17;p3"/>
          <p:cNvSpPr/>
          <p:nvPr/>
        </p:nvSpPr>
        <p:spPr>
          <a:xfrm rot="10800000" flipH="1">
            <a:off x="466425" y="3558325"/>
            <a:ext cx="1081625" cy="1124950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</p:sp>
      <p:sp>
        <p:nvSpPr>
          <p:cNvPr id="18" name="Google Shape;18;p3"/>
          <p:cNvSpPr txBox="1">
            <a:spLocks noGrp="1"/>
          </p:cNvSpPr>
          <p:nvPr>
            <p:ph type="title"/>
          </p:nvPr>
        </p:nvSpPr>
        <p:spPr>
          <a:xfrm>
            <a:off x="773700" y="1806450"/>
            <a:ext cx="7596600" cy="1530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r>
              <a:rPr lang="ru-RU"/>
              <a:t>Образец заголовка</a:t>
            </a:r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r>
              <a:rPr lang="ru-RU"/>
              <a:t>Образец заголовка</a:t>
            </a:r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311700" y="1225225"/>
            <a:ext cx="8520600" cy="335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4" name="Google Shape;24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5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r>
              <a:rPr lang="ru-RU"/>
              <a:t>Образец заголовка</a:t>
            </a:r>
            <a:endParaRPr/>
          </a:p>
        </p:txBody>
      </p:sp>
      <p:sp>
        <p:nvSpPr>
          <p:cNvPr id="27" name="Google Shape;27;p5"/>
          <p:cNvSpPr txBox="1">
            <a:spLocks noGrp="1"/>
          </p:cNvSpPr>
          <p:nvPr>
            <p:ph type="body" idx="1"/>
          </p:nvPr>
        </p:nvSpPr>
        <p:spPr>
          <a:xfrm>
            <a:off x="311700" y="1225225"/>
            <a:ext cx="3999900" cy="335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8" name="Google Shape;28;p5"/>
          <p:cNvSpPr txBox="1">
            <a:spLocks noGrp="1"/>
          </p:cNvSpPr>
          <p:nvPr>
            <p:ph type="body" idx="2"/>
          </p:nvPr>
        </p:nvSpPr>
        <p:spPr>
          <a:xfrm>
            <a:off x="4832400" y="1225225"/>
            <a:ext cx="3999900" cy="335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9" name="Google Shape;29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6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r>
              <a:rPr lang="ru-RU"/>
              <a:t>Образец заголовка</a:t>
            </a:r>
            <a:endParaRPr/>
          </a:p>
        </p:txBody>
      </p:sp>
      <p:sp>
        <p:nvSpPr>
          <p:cNvPr id="32" name="Google Shape;32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rPr lang="ru-RU"/>
              <a:t>Образец заголовка</a:t>
            </a:r>
            <a:endParaRPr/>
          </a:p>
        </p:txBody>
      </p:sp>
      <p:sp>
        <p:nvSpPr>
          <p:cNvPr id="35" name="Google Shape;35;p7"/>
          <p:cNvSpPr txBox="1">
            <a:spLocks noGrp="1"/>
          </p:cNvSpPr>
          <p:nvPr>
            <p:ph type="body" idx="1"/>
          </p:nvPr>
        </p:nvSpPr>
        <p:spPr>
          <a:xfrm>
            <a:off x="311700" y="1399400"/>
            <a:ext cx="2808000" cy="278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36" name="Google Shape;36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5878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r>
              <a:rPr lang="ru-RU"/>
              <a:t>Образец заголовка</a:t>
            </a:r>
            <a:endParaRPr/>
          </a:p>
        </p:txBody>
      </p:sp>
      <p:sp>
        <p:nvSpPr>
          <p:cNvPr id="40" name="Google Shape;40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9"/>
          <p:cNvSpPr/>
          <p:nvPr/>
        </p:nvSpPr>
        <p:spPr>
          <a:xfrm>
            <a:off x="4572000" y="-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43" name="Google Shape;43;p9"/>
          <p:cNvCxnSpPr/>
          <p:nvPr/>
        </p:nvCxnSpPr>
        <p:spPr>
          <a:xfrm>
            <a:off x="5029675" y="4495500"/>
            <a:ext cx="4683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4" name="Google Shape;44;p9"/>
          <p:cNvSpPr txBox="1">
            <a:spLocks noGrp="1"/>
          </p:cNvSpPr>
          <p:nvPr>
            <p:ph type="title"/>
          </p:nvPr>
        </p:nvSpPr>
        <p:spPr>
          <a:xfrm>
            <a:off x="265500" y="929275"/>
            <a:ext cx="4045200" cy="1786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9pPr>
          </a:lstStyle>
          <a:p>
            <a:r>
              <a:rPr lang="ru-RU"/>
              <a:t>Образец заголовка</a:t>
            </a:r>
            <a:endParaRPr/>
          </a:p>
        </p:txBody>
      </p:sp>
      <p:sp>
        <p:nvSpPr>
          <p:cNvPr id="45" name="Google Shape;45;p9"/>
          <p:cNvSpPr txBox="1">
            <a:spLocks noGrp="1"/>
          </p:cNvSpPr>
          <p:nvPr>
            <p:ph type="subTitle" idx="1"/>
          </p:nvPr>
        </p:nvSpPr>
        <p:spPr>
          <a:xfrm>
            <a:off x="265500" y="2769001"/>
            <a:ext cx="4045200" cy="157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r>
              <a:rPr lang="ru-RU"/>
              <a:t>Образец подзаголовка</a:t>
            </a:r>
            <a:endParaRPr/>
          </a:p>
        </p:txBody>
      </p:sp>
      <p:sp>
        <p:nvSpPr>
          <p:cNvPr id="46" name="Google Shape;46;p9"/>
          <p:cNvSpPr txBox="1">
            <a:spLocks noGrp="1"/>
          </p:cNvSpPr>
          <p:nvPr>
            <p:ph type="body" idx="2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7" name="Google Shape;47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0"/>
          <p:cNvSpPr txBox="1">
            <a:spLocks noGrp="1"/>
          </p:cNvSpPr>
          <p:nvPr>
            <p:ph type="body" idx="1"/>
          </p:nvPr>
        </p:nvSpPr>
        <p:spPr>
          <a:xfrm>
            <a:off x="319500" y="4218925"/>
            <a:ext cx="5998800" cy="598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1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0" name="Google Shape;50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1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" name="Google Shape;53;p11"/>
          <p:cNvSpPr txBox="1">
            <a:spLocks noGrp="1"/>
          </p:cNvSpPr>
          <p:nvPr>
            <p:ph type="title" hasCustomPrompt="1"/>
          </p:nvPr>
        </p:nvSpPr>
        <p:spPr>
          <a:xfrm>
            <a:off x="311700" y="957125"/>
            <a:ext cx="8520600" cy="2128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4" name="Google Shape;54;p11"/>
          <p:cNvSpPr txBox="1">
            <a:spLocks noGrp="1"/>
          </p:cNvSpPr>
          <p:nvPr>
            <p:ph type="body" idx="1"/>
          </p:nvPr>
        </p:nvSpPr>
        <p:spPr>
          <a:xfrm>
            <a:off x="311700" y="3162000"/>
            <a:ext cx="8520600" cy="107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5" name="Google Shape;55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luxe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225225"/>
            <a:ext cx="8520600" cy="3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●"/>
              <a:defRPr sz="1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lvl="1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lvl="2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lvl="3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lvl="4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lvl="5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lvl="6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lvl="7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lvl="8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5.png"/><Relationship Id="rId4" Type="http://schemas.openxmlformats.org/officeDocument/2006/relationships/image" Target="../media/image4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3.jpeg"/><Relationship Id="rId5" Type="http://schemas.openxmlformats.org/officeDocument/2006/relationships/image" Target="../media/image12.png"/><Relationship Id="rId10" Type="http://schemas.openxmlformats.org/officeDocument/2006/relationships/image" Target="../media/image17.png"/><Relationship Id="rId4" Type="http://schemas.openxmlformats.org/officeDocument/2006/relationships/image" Target="../media/image11.png"/><Relationship Id="rId9" Type="http://schemas.openxmlformats.org/officeDocument/2006/relationships/image" Target="../media/image16.jpe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1.png"/><Relationship Id="rId7" Type="http://schemas.openxmlformats.org/officeDocument/2006/relationships/image" Target="../media/image2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3"/>
          <p:cNvSpPr txBox="1">
            <a:spLocks noGrp="1"/>
          </p:cNvSpPr>
          <p:nvPr>
            <p:ph type="ctrTitle"/>
          </p:nvPr>
        </p:nvSpPr>
        <p:spPr>
          <a:xfrm>
            <a:off x="2762201" y="772297"/>
            <a:ext cx="4447967" cy="1927653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dirty="0" err="1"/>
              <a:t>Програмна</a:t>
            </a:r>
            <a:r>
              <a:rPr lang="ru-RU" sz="2400" dirty="0"/>
              <a:t> система для центру </a:t>
            </a:r>
            <a:r>
              <a:rPr lang="ru-RU" sz="2400" dirty="0" err="1"/>
              <a:t>дитячого</a:t>
            </a:r>
            <a:r>
              <a:rPr lang="ru-RU" sz="2400" dirty="0"/>
              <a:t> </a:t>
            </a:r>
            <a:r>
              <a:rPr lang="ru-RU" sz="2400" dirty="0" err="1"/>
              <a:t>розвитку</a:t>
            </a:r>
            <a:r>
              <a:rPr lang="ru-RU" sz="2400" dirty="0"/>
              <a:t>. Веб-</a:t>
            </a:r>
            <a:r>
              <a:rPr lang="ru-RU" sz="2400" dirty="0" err="1"/>
              <a:t>застосунок</a:t>
            </a:r>
            <a:r>
              <a:rPr lang="ru-RU" sz="2400" dirty="0"/>
              <a:t> та </a:t>
            </a:r>
            <a:r>
              <a:rPr lang="ru-RU" sz="2400" dirty="0" err="1"/>
              <a:t>мобільний</a:t>
            </a:r>
            <a:r>
              <a:rPr lang="ru-RU" sz="2400" dirty="0"/>
              <a:t> </a:t>
            </a:r>
            <a:r>
              <a:rPr lang="ru-RU" sz="2400" dirty="0" err="1"/>
              <a:t>додаток</a:t>
            </a:r>
            <a:r>
              <a:rPr lang="ru-RU" sz="2400" dirty="0"/>
              <a:t> для </a:t>
            </a:r>
            <a:r>
              <a:rPr lang="ru-RU" sz="2400" dirty="0" err="1"/>
              <a:t>Android</a:t>
            </a:r>
            <a:r>
              <a:rPr lang="ru-RU" sz="2400" dirty="0"/>
              <a:t>. </a:t>
            </a:r>
            <a:r>
              <a:rPr lang="ru-RU" sz="2400" dirty="0" err="1"/>
              <a:t>Бекенд</a:t>
            </a:r>
            <a:endParaRPr lang="uk-UA" sz="2400" dirty="0"/>
          </a:p>
        </p:txBody>
      </p:sp>
      <p:sp>
        <p:nvSpPr>
          <p:cNvPr id="63" name="Google Shape;63;p13"/>
          <p:cNvSpPr txBox="1">
            <a:spLocks noGrp="1"/>
          </p:cNvSpPr>
          <p:nvPr>
            <p:ph type="subTitle" idx="1"/>
          </p:nvPr>
        </p:nvSpPr>
        <p:spPr>
          <a:xfrm>
            <a:off x="1404553" y="3593150"/>
            <a:ext cx="5087400" cy="153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77500" lnSpcReduction="2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uk-UA" dirty="0"/>
              <a:t>Зозуля Олена Юріївна, ПЗПІ-22-1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uk" dirty="0"/>
              <a:t>Керівник: </a:t>
            </a:r>
            <a:r>
              <a:rPr lang="uk-UA" dirty="0"/>
              <a:t>доц. каф. ПІ </a:t>
            </a:r>
            <a:r>
              <a:rPr lang="uk-UA" dirty="0" err="1"/>
              <a:t>Мельнікова</a:t>
            </a:r>
            <a:r>
              <a:rPr lang="uk-UA" dirty="0"/>
              <a:t> Роксана Валеріївна</a:t>
            </a:r>
            <a:endParaRPr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uk" dirty="0"/>
              <a:t>	10 </a:t>
            </a:r>
            <a:r>
              <a:rPr lang="uk"/>
              <a:t>липня 2026</a:t>
            </a:r>
            <a:endParaRPr dirty="0"/>
          </a:p>
        </p:txBody>
      </p:sp>
      <p:pic>
        <p:nvPicPr>
          <p:cNvPr id="64" name="Google Shape;64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65" name="Google Shape;65;p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4725" y="170825"/>
            <a:ext cx="2133975" cy="389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66" name="Google Shape;66;p1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068504" y="170825"/>
            <a:ext cx="1924921" cy="439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4"/>
          <p:cNvSpPr txBox="1">
            <a:spLocks noGrp="1"/>
          </p:cNvSpPr>
          <p:nvPr>
            <p:ph type="title"/>
          </p:nvPr>
        </p:nvSpPr>
        <p:spPr>
          <a:xfrm>
            <a:off x="311700" y="0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uk" sz="3200" dirty="0"/>
              <a:t>Мета роботи</a:t>
            </a:r>
            <a:endParaRPr sz="3200" dirty="0"/>
          </a:p>
        </p:txBody>
      </p:sp>
      <p:sp>
        <p:nvSpPr>
          <p:cNvPr id="72" name="Google Shape;72;p14"/>
          <p:cNvSpPr txBox="1">
            <a:spLocks noGrp="1"/>
          </p:cNvSpPr>
          <p:nvPr>
            <p:ph type="body" idx="1"/>
          </p:nvPr>
        </p:nvSpPr>
        <p:spPr>
          <a:xfrm>
            <a:off x="311700" y="747584"/>
            <a:ext cx="8466540" cy="361191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 rtl="0">
              <a:lnSpc>
                <a:spcPct val="100000"/>
              </a:lnSpc>
              <a:spcAft>
                <a:spcPts val="800"/>
              </a:spcAft>
              <a:buNone/>
            </a:pPr>
            <a:r>
              <a:rPr lang="uk-UA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Мета роботи </a:t>
            </a:r>
            <a:r>
              <a:rPr lang="en-US" dirty="0">
                <a:solidFill>
                  <a:srgbClr val="0D0D0D"/>
                </a:solidFill>
                <a:highlight>
                  <a:srgbClr val="FFFFFF"/>
                </a:highlight>
              </a:rPr>
              <a:t>–</a:t>
            </a:r>
            <a:r>
              <a:rPr lang="uk-UA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uk-UA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проєктування</a:t>
            </a:r>
            <a:r>
              <a:rPr lang="uk-UA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та реалізація програмної системи «</a:t>
            </a:r>
            <a:r>
              <a:rPr lang="en-US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ChildSpace</a:t>
            </a:r>
            <a:r>
              <a:rPr lang="en-US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» </a:t>
            </a:r>
            <a:r>
              <a:rPr lang="uk-UA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для автоматизації процесів управління, обліку та комунікації в центрах дитячого розвитку, що об’єднує серверну частину, веб-клієнт і мобільний застосунок.</a:t>
            </a:r>
          </a:p>
          <a:p>
            <a:pPr marL="0" lvl="0" indent="0" algn="just" rtl="0">
              <a:lnSpc>
                <a:spcPct val="100000"/>
              </a:lnSpc>
              <a:spcAft>
                <a:spcPts val="800"/>
              </a:spcAft>
              <a:buNone/>
            </a:pPr>
            <a:r>
              <a:rPr lang="uk-UA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Мета даної роботи – </a:t>
            </a:r>
            <a:r>
              <a:rPr lang="uk-UA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проєктування</a:t>
            </a:r>
            <a:r>
              <a:rPr lang="uk-UA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та розробка серверної частини програмної системи, реляційної бази даних та реалізація частини функціоналу мобільного застосунку для </a:t>
            </a:r>
            <a:r>
              <a:rPr lang="en-US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Android</a:t>
            </a:r>
            <a:r>
              <a:rPr lang="uk-UA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.</a:t>
            </a:r>
          </a:p>
          <a:p>
            <a:pPr marL="0" lvl="0" indent="0" algn="just" rtl="0">
              <a:lnSpc>
                <a:spcPct val="100000"/>
              </a:lnSpc>
              <a:spcAft>
                <a:spcPts val="800"/>
              </a:spcAft>
              <a:buNone/>
            </a:pPr>
            <a:r>
              <a:rPr lang="uk-UA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Багато центрів дитячого розвитку використовують паперовий документообіг і розрізнені засоби комунікації, що ускладнює управління та обмін інформацією. Впровадження єдиної системи забезпечує централізацію даних, підвищує ефективність роботи персоналу та покращує взаємодію між учасниками освітнього процесу.</a:t>
            </a:r>
          </a:p>
        </p:txBody>
      </p:sp>
      <p:pic>
        <p:nvPicPr>
          <p:cNvPr id="73" name="Google Shape;73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93E68CA-DEF7-D32D-BFB6-7B402335F4C7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2</a:t>
            </a:fld>
            <a:endParaRPr lang="uk-UA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5"/>
          <p:cNvSpPr txBox="1">
            <a:spLocks noGrp="1"/>
          </p:cNvSpPr>
          <p:nvPr>
            <p:ph type="title"/>
          </p:nvPr>
        </p:nvSpPr>
        <p:spPr>
          <a:xfrm>
            <a:off x="311700" y="-124863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uk" sz="3200" dirty="0"/>
              <a:t>Аналіз проблеми. Аналоги системи</a:t>
            </a:r>
            <a:endParaRPr sz="3200" dirty="0"/>
          </a:p>
        </p:txBody>
      </p:sp>
      <p:sp>
        <p:nvSpPr>
          <p:cNvPr id="79" name="Google Shape;79;p15"/>
          <p:cNvSpPr txBox="1">
            <a:spLocks noGrp="1"/>
          </p:cNvSpPr>
          <p:nvPr>
            <p:ph type="body" idx="1"/>
          </p:nvPr>
        </p:nvSpPr>
        <p:spPr>
          <a:xfrm>
            <a:off x="311700" y="578071"/>
            <a:ext cx="4289429" cy="369079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 algn="just">
              <a:spcBef>
                <a:spcPts val="1500"/>
              </a:spcBef>
              <a:buFont typeface="Open Sans" panose="020B0606030504020204" pitchFamily="34" charset="0"/>
              <a:buChar char="–"/>
            </a:pPr>
            <a:r>
              <a:rPr lang="en-US" dirty="0">
                <a:solidFill>
                  <a:srgbClr val="0D0D0D"/>
                </a:solidFill>
                <a:highlight>
                  <a:srgbClr val="FFFFFF"/>
                </a:highlight>
              </a:rPr>
              <a:t>Brightwheel – </a:t>
            </a:r>
            <a:r>
              <a:rPr lang="uk-UA" dirty="0">
                <a:solidFill>
                  <a:srgbClr val="0D0D0D"/>
                </a:solidFill>
                <a:highlight>
                  <a:srgbClr val="FFFFFF"/>
                </a:highlight>
              </a:rPr>
              <a:t>хмарна платформа для автоматизації роботи дитячих садків і центрів раннього розвитку. Орієнтована на ринок США</a:t>
            </a:r>
            <a:r>
              <a:rPr lang="en-US" dirty="0">
                <a:solidFill>
                  <a:srgbClr val="0D0D0D"/>
                </a:solidFill>
                <a:highlight>
                  <a:srgbClr val="FFFFFF"/>
                </a:highlight>
              </a:rPr>
              <a:t>;</a:t>
            </a:r>
            <a:endParaRPr lang="uk-UA" dirty="0">
              <a:solidFill>
                <a:srgbClr val="0D0D0D"/>
              </a:solidFill>
              <a:highlight>
                <a:srgbClr val="FFFFFF"/>
              </a:highlight>
            </a:endParaRPr>
          </a:p>
          <a:p>
            <a:pPr marL="285750" indent="-285750" algn="just">
              <a:spcBef>
                <a:spcPts val="1500"/>
              </a:spcBef>
              <a:buFont typeface="Open Sans" panose="020B0606030504020204" pitchFamily="34" charset="0"/>
              <a:buChar char="–"/>
            </a:pPr>
            <a:r>
              <a:rPr lang="en-US" dirty="0">
                <a:solidFill>
                  <a:srgbClr val="0D0D0D"/>
                </a:solidFill>
                <a:highlight>
                  <a:srgbClr val="FFFFFF"/>
                </a:highlight>
              </a:rPr>
              <a:t>School Today – </a:t>
            </a:r>
            <a:r>
              <a:rPr lang="ru-RU" dirty="0" err="1">
                <a:solidFill>
                  <a:srgbClr val="0D0D0D"/>
                </a:solidFill>
                <a:highlight>
                  <a:srgbClr val="FFFFFF"/>
                </a:highlight>
              </a:rPr>
              <a:t>українська</a:t>
            </a:r>
            <a:r>
              <a:rPr lang="ru-RU" dirty="0">
                <a:solidFill>
                  <a:srgbClr val="0D0D0D"/>
                </a:solidFill>
                <a:highlight>
                  <a:srgbClr val="FFFFFF"/>
                </a:highlight>
              </a:rPr>
              <a:t> платформа для </a:t>
            </a:r>
            <a:r>
              <a:rPr lang="ru-RU" dirty="0" err="1">
                <a:solidFill>
                  <a:srgbClr val="0D0D0D"/>
                </a:solidFill>
                <a:highlight>
                  <a:srgbClr val="FFFFFF"/>
                </a:highlight>
              </a:rPr>
              <a:t>управління</a:t>
            </a:r>
            <a:r>
              <a:rPr lang="ru-RU" dirty="0">
                <a:solidFill>
                  <a:srgbClr val="0D0D0D"/>
                </a:solidFill>
                <a:highlight>
                  <a:srgbClr val="FFFFFF"/>
                </a:highlight>
              </a:rPr>
              <a:t> </a:t>
            </a:r>
            <a:r>
              <a:rPr lang="ru-RU" dirty="0" err="1">
                <a:solidFill>
                  <a:srgbClr val="0D0D0D"/>
                </a:solidFill>
                <a:highlight>
                  <a:srgbClr val="FFFFFF"/>
                </a:highlight>
              </a:rPr>
              <a:t>освітніми</a:t>
            </a:r>
            <a:r>
              <a:rPr lang="ru-RU" dirty="0">
                <a:solidFill>
                  <a:srgbClr val="0D0D0D"/>
                </a:solidFill>
                <a:highlight>
                  <a:srgbClr val="FFFFFF"/>
                </a:highlight>
              </a:rPr>
              <a:t> закладами. </a:t>
            </a:r>
            <a:r>
              <a:rPr lang="ru-RU" dirty="0" err="1">
                <a:solidFill>
                  <a:srgbClr val="0D0D0D"/>
                </a:solidFill>
                <a:highlight>
                  <a:srgbClr val="FFFFFF"/>
                </a:highlight>
              </a:rPr>
              <a:t>Переважно</a:t>
            </a:r>
            <a:r>
              <a:rPr lang="ru-RU" dirty="0">
                <a:solidFill>
                  <a:srgbClr val="0D0D0D"/>
                </a:solidFill>
                <a:highlight>
                  <a:srgbClr val="FFFFFF"/>
                </a:highlight>
              </a:rPr>
              <a:t> </a:t>
            </a:r>
            <a:r>
              <a:rPr lang="ru-RU" dirty="0" err="1">
                <a:solidFill>
                  <a:srgbClr val="0D0D0D"/>
                </a:solidFill>
                <a:highlight>
                  <a:srgbClr val="FFFFFF"/>
                </a:highlight>
              </a:rPr>
              <a:t>орієнтована</a:t>
            </a:r>
            <a:r>
              <a:rPr lang="ru-RU" dirty="0">
                <a:solidFill>
                  <a:srgbClr val="0D0D0D"/>
                </a:solidFill>
                <a:highlight>
                  <a:srgbClr val="FFFFFF"/>
                </a:highlight>
              </a:rPr>
              <a:t> на </a:t>
            </a:r>
            <a:r>
              <a:rPr lang="ru-RU" dirty="0" err="1">
                <a:solidFill>
                  <a:srgbClr val="0D0D0D"/>
                </a:solidFill>
                <a:highlight>
                  <a:srgbClr val="FFFFFF"/>
                </a:highlight>
              </a:rPr>
              <a:t>школи</a:t>
            </a:r>
            <a:r>
              <a:rPr lang="ru-RU" dirty="0">
                <a:solidFill>
                  <a:srgbClr val="0D0D0D"/>
                </a:solidFill>
                <a:highlight>
                  <a:srgbClr val="FFFFFF"/>
                </a:highlight>
              </a:rPr>
              <a:t> та </a:t>
            </a:r>
            <a:r>
              <a:rPr lang="ru-RU" dirty="0" err="1">
                <a:solidFill>
                  <a:srgbClr val="0D0D0D"/>
                </a:solidFill>
                <a:highlight>
                  <a:srgbClr val="FFFFFF"/>
                </a:highlight>
              </a:rPr>
              <a:t>великі</a:t>
            </a:r>
            <a:r>
              <a:rPr lang="ru-RU" dirty="0">
                <a:solidFill>
                  <a:srgbClr val="0D0D0D"/>
                </a:solidFill>
                <a:highlight>
                  <a:srgbClr val="FFFFFF"/>
                </a:highlight>
              </a:rPr>
              <a:t> </a:t>
            </a:r>
            <a:r>
              <a:rPr lang="ru-RU" dirty="0" err="1">
                <a:solidFill>
                  <a:srgbClr val="0D0D0D"/>
                </a:solidFill>
                <a:highlight>
                  <a:srgbClr val="FFFFFF"/>
                </a:highlight>
              </a:rPr>
              <a:t>навчальні</a:t>
            </a:r>
            <a:r>
              <a:rPr lang="ru-RU" dirty="0">
                <a:solidFill>
                  <a:srgbClr val="0D0D0D"/>
                </a:solidFill>
                <a:highlight>
                  <a:srgbClr val="FFFFFF"/>
                </a:highlight>
              </a:rPr>
              <a:t> </a:t>
            </a:r>
            <a:r>
              <a:rPr lang="ru-RU" dirty="0" err="1">
                <a:solidFill>
                  <a:srgbClr val="0D0D0D"/>
                </a:solidFill>
                <a:highlight>
                  <a:srgbClr val="FFFFFF"/>
                </a:highlight>
              </a:rPr>
              <a:t>заклади</a:t>
            </a:r>
            <a:r>
              <a:rPr lang="uk-UA" dirty="0">
                <a:solidFill>
                  <a:srgbClr val="0D0D0D"/>
                </a:solidFill>
                <a:highlight>
                  <a:srgbClr val="FFFFFF"/>
                </a:highlight>
              </a:rPr>
              <a:t>.</a:t>
            </a:r>
            <a:endParaRPr dirty="0"/>
          </a:p>
        </p:txBody>
      </p:sp>
      <p:pic>
        <p:nvPicPr>
          <p:cNvPr id="80" name="Google Shape;80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B62475D-5E0B-A5AC-3922-2970FC56A64D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3</a:t>
            </a:fld>
            <a:endParaRPr lang="uk-UA" dirty="0"/>
          </a:p>
        </p:txBody>
      </p:sp>
      <p:pic>
        <p:nvPicPr>
          <p:cNvPr id="1026" name="Picture 2" descr="Why brightwheel | Leading The Way In Childcare Management">
            <a:extLst>
              <a:ext uri="{FF2B5EF4-FFF2-40B4-BE49-F238E27FC236}">
                <a16:creationId xmlns:a16="http://schemas.microsoft.com/office/drawing/2014/main" id="{FEBB2BAD-648F-4DE7-8745-667111381EC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492" t="10588" r="5787"/>
          <a:stretch/>
        </p:blipFill>
        <p:spPr bwMode="auto">
          <a:xfrm>
            <a:off x="4817801" y="668705"/>
            <a:ext cx="3713349" cy="21794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FCFF0FE3-21D2-41E6-AAA2-5B5C27838A0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17801" y="2848127"/>
            <a:ext cx="3713349" cy="212931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5"/>
          <p:cNvSpPr txBox="1">
            <a:spLocks noGrp="1"/>
          </p:cNvSpPr>
          <p:nvPr>
            <p:ph type="title"/>
          </p:nvPr>
        </p:nvSpPr>
        <p:spPr>
          <a:xfrm>
            <a:off x="311700" y="-124863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uk" sz="3200" dirty="0"/>
              <a:t>Аналіз проблеми. Аналіз недоліків</a:t>
            </a:r>
            <a:endParaRPr sz="3200" dirty="0"/>
          </a:p>
        </p:txBody>
      </p:sp>
      <p:sp>
        <p:nvSpPr>
          <p:cNvPr id="79" name="Google Shape;79;p15"/>
          <p:cNvSpPr txBox="1">
            <a:spLocks noGrp="1"/>
          </p:cNvSpPr>
          <p:nvPr>
            <p:ph type="body" idx="1"/>
          </p:nvPr>
        </p:nvSpPr>
        <p:spPr>
          <a:xfrm>
            <a:off x="268925" y="772297"/>
            <a:ext cx="8509315" cy="409286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 algn="just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Font typeface="Open Sans" panose="020B0606030504020204" pitchFamily="34" charset="0"/>
              <a:buChar char="–"/>
            </a:pPr>
            <a:r>
              <a:rPr lang="en-US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Brightwheel</a:t>
            </a:r>
            <a:r>
              <a:rPr lang="uk-UA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має перевантажений інтерфейс і складну навігацію, обмежені можливості комунікації між користувачами, відсутню локалізацію під український ринок та нестабільну роботу мобільного застосунку</a:t>
            </a:r>
            <a:r>
              <a:rPr lang="en-US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;</a:t>
            </a:r>
            <a:endParaRPr lang="uk-UA" dirty="0">
              <a:effectLst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285750" lvl="0" indent="-285750" algn="just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Font typeface="Open Sans" panose="020B0606030504020204" pitchFamily="34" charset="0"/>
              <a:buChar char="–"/>
            </a:pPr>
            <a:r>
              <a:rPr lang="en-US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School Today</a:t>
            </a:r>
            <a:r>
              <a:rPr lang="uk-UA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ru-RU" dirty="0" err="1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характеризується</a:t>
            </a:r>
            <a:r>
              <a:rPr lang="ru-RU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ru-RU" dirty="0" err="1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надлишковим</a:t>
            </a:r>
            <a:r>
              <a:rPr lang="ru-RU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і </a:t>
            </a:r>
            <a:r>
              <a:rPr lang="ru-RU" dirty="0" err="1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складним</a:t>
            </a:r>
            <a:r>
              <a:rPr lang="ru-RU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ru-RU" dirty="0" err="1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функціоналом</a:t>
            </a:r>
            <a:r>
              <a:rPr lang="ru-RU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для невеликих </a:t>
            </a:r>
            <a:r>
              <a:rPr lang="ru-RU" dirty="0" err="1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центрів</a:t>
            </a:r>
            <a:r>
              <a:rPr lang="ru-RU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</a:t>
            </a:r>
            <a:r>
              <a:rPr lang="ru-RU" dirty="0" err="1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перевантаженим</a:t>
            </a:r>
            <a:r>
              <a:rPr lang="ru-RU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ru-RU" dirty="0" err="1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інтерфейсом</a:t>
            </a:r>
            <a:r>
              <a:rPr lang="ru-RU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</a:t>
            </a:r>
            <a:r>
              <a:rPr lang="ru-RU" dirty="0" err="1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технічними</a:t>
            </a:r>
            <a:r>
              <a:rPr lang="ru-RU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ru-RU" dirty="0" err="1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помилками</a:t>
            </a:r>
            <a:r>
              <a:rPr lang="ru-RU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та </a:t>
            </a:r>
            <a:r>
              <a:rPr lang="ru-RU" dirty="0" err="1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збоями</a:t>
            </a:r>
            <a:r>
              <a:rPr lang="ru-RU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в </a:t>
            </a:r>
            <a:r>
              <a:rPr lang="ru-RU" dirty="0" err="1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роботі</a:t>
            </a:r>
            <a:r>
              <a:rPr lang="ru-RU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ru-RU" dirty="0" err="1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застосунку</a:t>
            </a:r>
            <a:r>
              <a:rPr lang="ru-RU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а </a:t>
            </a:r>
            <a:r>
              <a:rPr lang="ru-RU" dirty="0" err="1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також</a:t>
            </a:r>
            <a:r>
              <a:rPr lang="ru-RU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ru-RU" dirty="0" err="1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складністю</a:t>
            </a:r>
            <a:r>
              <a:rPr lang="ru-RU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ru-RU" dirty="0" err="1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впровадження</a:t>
            </a:r>
            <a:r>
              <a:rPr lang="ru-RU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у </a:t>
            </a:r>
            <a:r>
              <a:rPr lang="ru-RU" dirty="0" err="1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малих</a:t>
            </a:r>
            <a:r>
              <a:rPr lang="ru-RU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ru-RU" dirty="0" err="1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навчальних</a:t>
            </a:r>
            <a:r>
              <a:rPr lang="ru-RU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закладах.</a:t>
            </a:r>
          </a:p>
          <a:p>
            <a:pPr marL="0" indent="0" algn="just">
              <a:lnSpc>
                <a:spcPct val="100000"/>
              </a:lnSpc>
              <a:spcBef>
                <a:spcPts val="1200"/>
              </a:spcBef>
              <a:buNone/>
            </a:pPr>
            <a:r>
              <a:rPr lang="ru-RU" dirty="0"/>
              <a:t>Проблема: </a:t>
            </a:r>
            <a:r>
              <a:rPr lang="ru-RU" dirty="0" err="1"/>
              <a:t>відсутність</a:t>
            </a:r>
            <a:r>
              <a:rPr lang="ru-RU" dirty="0"/>
              <a:t> </a:t>
            </a:r>
            <a:r>
              <a:rPr lang="ru-RU" dirty="0" err="1"/>
              <a:t>єдиного</a:t>
            </a:r>
            <a:r>
              <a:rPr lang="ru-RU" dirty="0"/>
              <a:t> цифрового </a:t>
            </a:r>
            <a:r>
              <a:rPr lang="ru-RU" dirty="0" err="1"/>
              <a:t>середовища</a:t>
            </a:r>
            <a:r>
              <a:rPr lang="ru-RU" dirty="0"/>
              <a:t> для </a:t>
            </a:r>
            <a:r>
              <a:rPr lang="ru-RU" dirty="0" err="1"/>
              <a:t>управління</a:t>
            </a:r>
            <a:r>
              <a:rPr lang="ru-RU" dirty="0"/>
              <a:t> </a:t>
            </a:r>
            <a:r>
              <a:rPr lang="ru-RU" dirty="0" err="1"/>
              <a:t>навчальним</a:t>
            </a:r>
            <a:r>
              <a:rPr lang="ru-RU" dirty="0"/>
              <a:t> </a:t>
            </a:r>
            <a:r>
              <a:rPr lang="ru-RU" dirty="0" err="1"/>
              <a:t>процесом</a:t>
            </a:r>
            <a:r>
              <a:rPr lang="ru-RU" dirty="0"/>
              <a:t>, </a:t>
            </a:r>
            <a:r>
              <a:rPr lang="ru-RU" dirty="0" err="1"/>
              <a:t>обліком</a:t>
            </a:r>
            <a:r>
              <a:rPr lang="ru-RU" dirty="0"/>
              <a:t> та </a:t>
            </a:r>
            <a:r>
              <a:rPr lang="ru-RU" dirty="0" err="1"/>
              <a:t>комунікацією</a:t>
            </a:r>
            <a:r>
              <a:rPr lang="ru-RU" dirty="0"/>
              <a:t> в центрах </a:t>
            </a:r>
            <a:r>
              <a:rPr lang="ru-RU" dirty="0" err="1"/>
              <a:t>дитячого</a:t>
            </a:r>
            <a:r>
              <a:rPr lang="ru-RU" dirty="0"/>
              <a:t> </a:t>
            </a:r>
            <a:r>
              <a:rPr lang="ru-RU" dirty="0" err="1"/>
              <a:t>розвитку</a:t>
            </a:r>
            <a:r>
              <a:rPr lang="ru-RU" dirty="0"/>
              <a:t>.</a:t>
            </a:r>
          </a:p>
        </p:txBody>
      </p:sp>
      <p:pic>
        <p:nvPicPr>
          <p:cNvPr id="80" name="Google Shape;80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B62475D-5E0B-A5AC-3922-2970FC56A64D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4</a:t>
            </a:fld>
            <a:endParaRPr lang="uk-UA" dirty="0"/>
          </a:p>
        </p:txBody>
      </p:sp>
    </p:spTree>
    <p:extLst>
      <p:ext uri="{BB962C8B-B14F-4D97-AF65-F5344CB8AC3E}">
        <p14:creationId xmlns:p14="http://schemas.microsoft.com/office/powerpoint/2010/main" val="39185877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6"/>
          <p:cNvSpPr txBox="1">
            <a:spLocks noGrp="1"/>
          </p:cNvSpPr>
          <p:nvPr>
            <p:ph type="title"/>
          </p:nvPr>
        </p:nvSpPr>
        <p:spPr>
          <a:xfrm>
            <a:off x="311700" y="-186276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uk" sz="3200" dirty="0"/>
              <a:t>Постановка задачі та опис системи</a:t>
            </a:r>
            <a:endParaRPr sz="3200" dirty="0"/>
          </a:p>
        </p:txBody>
      </p:sp>
      <p:sp>
        <p:nvSpPr>
          <p:cNvPr id="86" name="Google Shape;86;p16"/>
          <p:cNvSpPr txBox="1">
            <a:spLocks noGrp="1"/>
          </p:cNvSpPr>
          <p:nvPr>
            <p:ph type="body" idx="1"/>
          </p:nvPr>
        </p:nvSpPr>
        <p:spPr>
          <a:xfrm>
            <a:off x="311700" y="481914"/>
            <a:ext cx="8520600" cy="417263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85000" lnSpcReduction="10000"/>
          </a:bodyPr>
          <a:lstStyle/>
          <a:p>
            <a:pPr marL="0" lvl="0" indent="0" algn="just" rtl="0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ru-RU" dirty="0"/>
              <a:t>Комплексна </a:t>
            </a:r>
            <a:r>
              <a:rPr lang="ru-RU" dirty="0" err="1"/>
              <a:t>кваліфікаційна</a:t>
            </a:r>
            <a:r>
              <a:rPr lang="ru-RU" dirty="0"/>
              <a:t> робота </a:t>
            </a:r>
            <a:r>
              <a:rPr lang="ru-RU" dirty="0" err="1"/>
              <a:t>складається</a:t>
            </a:r>
            <a:r>
              <a:rPr lang="ru-RU" dirty="0"/>
              <a:t> з </a:t>
            </a:r>
            <a:r>
              <a:rPr lang="ru-RU" dirty="0" err="1"/>
              <a:t>серверної</a:t>
            </a:r>
            <a:r>
              <a:rPr lang="ru-RU" dirty="0"/>
              <a:t> </a:t>
            </a:r>
            <a:r>
              <a:rPr lang="ru-RU" dirty="0" err="1"/>
              <a:t>частини</a:t>
            </a:r>
            <a:r>
              <a:rPr lang="ru-RU" dirty="0"/>
              <a:t>, </a:t>
            </a:r>
            <a:r>
              <a:rPr lang="ru-RU" dirty="0" err="1"/>
              <a:t>бази</a:t>
            </a:r>
            <a:r>
              <a:rPr lang="ru-RU" dirty="0"/>
              <a:t> </a:t>
            </a:r>
            <a:r>
              <a:rPr lang="ru-RU" dirty="0" err="1"/>
              <a:t>даних</a:t>
            </a:r>
            <a:r>
              <a:rPr lang="ru-RU" dirty="0"/>
              <a:t>, </a:t>
            </a:r>
            <a:r>
              <a:rPr lang="ru-RU" dirty="0" err="1"/>
              <a:t>клієнтської</a:t>
            </a:r>
            <a:r>
              <a:rPr lang="ru-RU" dirty="0"/>
              <a:t> </a:t>
            </a:r>
            <a:r>
              <a:rPr lang="ru-RU" dirty="0" err="1"/>
              <a:t>частини</a:t>
            </a:r>
            <a:r>
              <a:rPr lang="ru-RU" dirty="0"/>
              <a:t> та </a:t>
            </a:r>
            <a:r>
              <a:rPr lang="ru-RU" dirty="0" err="1"/>
              <a:t>мобільного</a:t>
            </a:r>
            <a:r>
              <a:rPr lang="ru-RU" dirty="0"/>
              <a:t> </a:t>
            </a:r>
            <a:r>
              <a:rPr lang="ru-RU" dirty="0" err="1"/>
              <a:t>застосунку</a:t>
            </a:r>
            <a:r>
              <a:rPr lang="ru-RU" dirty="0"/>
              <a:t>.</a:t>
            </a:r>
          </a:p>
          <a:p>
            <a:pPr marL="0" lvl="0" indent="0" algn="just" rtl="0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uk-UA" dirty="0"/>
              <a:t>Очікуваний основний функціонал системи: керування всіма даними (користувачів системи, дітей, гуртків, груп, центрів); перегляд розкладу; заповнення форми заявки на пробне заняття; обмін повідомленнями в чатах; керування матеріалами; ведення обліку відвідуваності.</a:t>
            </a:r>
            <a:endParaRPr lang="en-US" dirty="0"/>
          </a:p>
          <a:p>
            <a:pPr marL="0" lvl="0" indent="0" algn="just" rtl="0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uk-UA" dirty="0"/>
              <a:t>Завдання даної роботи: розробка серверної частини, бази даних та частини функціоналу мобільного застосунку</a:t>
            </a:r>
            <a:r>
              <a:rPr lang="en-US" dirty="0"/>
              <a:t>.</a:t>
            </a:r>
          </a:p>
          <a:p>
            <a:pPr marL="0" lvl="0" indent="0" algn="just" rtl="0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uk-UA" dirty="0"/>
              <a:t>Серверна частина забезпечує: обробку </a:t>
            </a:r>
            <a:r>
              <a:rPr lang="en-US" dirty="0"/>
              <a:t>HTTP-</a:t>
            </a:r>
            <a:r>
              <a:rPr lang="uk-UA" dirty="0"/>
              <a:t>запитів, бізнес-логіку, автентифікацію та авторизацію, взаємодію з БД, інтеграцію з зовнішніми сервісами</a:t>
            </a:r>
            <a:r>
              <a:rPr lang="en-US" dirty="0"/>
              <a:t>.</a:t>
            </a:r>
          </a:p>
          <a:p>
            <a:pPr marL="0" lvl="0" indent="0" algn="just" rtl="0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uk-UA" dirty="0"/>
              <a:t>Мобільний застосунок реалізує: автентифікацію користувачів, перегляд розкладу занять, профіль користувача, </a:t>
            </a:r>
            <a:r>
              <a:rPr lang="en-US" dirty="0"/>
              <a:t>push-</a:t>
            </a:r>
            <a:r>
              <a:rPr lang="uk-UA" dirty="0"/>
              <a:t>сповіщення про зміни в розкладі.</a:t>
            </a:r>
          </a:p>
        </p:txBody>
      </p:sp>
      <p:pic>
        <p:nvPicPr>
          <p:cNvPr id="87" name="Google Shape;87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23D9805-068E-FE7E-BC9A-0C410D68B73B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5</a:t>
            </a:fld>
            <a:endParaRPr lang="uk-UA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6"/>
          <p:cNvSpPr txBox="1">
            <a:spLocks noGrp="1"/>
          </p:cNvSpPr>
          <p:nvPr>
            <p:ph type="title"/>
          </p:nvPr>
        </p:nvSpPr>
        <p:spPr>
          <a:xfrm>
            <a:off x="311700" y="-186276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uk" sz="3200" dirty="0"/>
              <a:t>Проєктування програмного забезпечення</a:t>
            </a:r>
            <a:endParaRPr sz="3200" dirty="0"/>
          </a:p>
        </p:txBody>
      </p:sp>
      <p:pic>
        <p:nvPicPr>
          <p:cNvPr id="87" name="Google Shape;87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23D9805-068E-FE7E-BC9A-0C410D68B73B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6</a:t>
            </a:fld>
            <a:endParaRPr lang="uk-UA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2428DE4B-9FDA-4144-860F-94EFFD71773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1700" y="1908604"/>
            <a:ext cx="3068454" cy="13262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BA407EAA-018E-47E9-857B-5B634D4EE9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92961" y="547568"/>
            <a:ext cx="5485279" cy="43936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246758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7"/>
          <p:cNvSpPr txBox="1">
            <a:spLocks noGrp="1"/>
          </p:cNvSpPr>
          <p:nvPr>
            <p:ph type="title"/>
          </p:nvPr>
        </p:nvSpPr>
        <p:spPr>
          <a:xfrm>
            <a:off x="311700" y="-148309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uk" sz="3200" dirty="0"/>
              <a:t>Вибір технологій розробки </a:t>
            </a:r>
            <a:endParaRPr sz="3200" dirty="0"/>
          </a:p>
        </p:txBody>
      </p:sp>
      <p:sp>
        <p:nvSpPr>
          <p:cNvPr id="93" name="Google Shape;93;p17"/>
          <p:cNvSpPr txBox="1">
            <a:spLocks noGrp="1"/>
          </p:cNvSpPr>
          <p:nvPr>
            <p:ph type="body" idx="1"/>
          </p:nvPr>
        </p:nvSpPr>
        <p:spPr>
          <a:xfrm>
            <a:off x="311700" y="601282"/>
            <a:ext cx="8520600" cy="3940935"/>
          </a:xfrm>
          <a:prstGeom prst="rect">
            <a:avLst/>
          </a:prstGeom>
        </p:spPr>
        <p:txBody>
          <a:bodyPr spcFirstLastPara="1" wrap="square" lIns="91425" tIns="91425" rIns="91425" bIns="91425" numCol="1" spcCol="360000" anchor="t" anchorCtr="0">
            <a:noAutofit/>
          </a:bodyPr>
          <a:lstStyle/>
          <a:p>
            <a:pPr marL="285750" lvl="0" indent="-285750" algn="just" rtl="0"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Font typeface="Open Sans" panose="020B0606030504020204" pitchFamily="34" charset="0"/>
              <a:buChar char="–"/>
            </a:pPr>
            <a:r>
              <a:rPr lang="en-US" sz="1400" dirty="0">
                <a:solidFill>
                  <a:srgbClr val="0D0D0D"/>
                </a:solidFill>
                <a:highlight>
                  <a:srgbClr val="FFFFFF"/>
                </a:highlight>
              </a:rPr>
              <a:t>ASP.NET Core Web API </a:t>
            </a:r>
            <a:r>
              <a:rPr lang="uk-UA" sz="1400" dirty="0">
                <a:solidFill>
                  <a:srgbClr val="0D0D0D"/>
                </a:solidFill>
                <a:highlight>
                  <a:srgbClr val="FFFFFF"/>
                </a:highlight>
              </a:rPr>
              <a:t>–</a:t>
            </a:r>
            <a:r>
              <a:rPr lang="en-US" sz="1400" dirty="0">
                <a:solidFill>
                  <a:srgbClr val="0D0D0D"/>
                </a:solidFill>
                <a:highlight>
                  <a:srgbClr val="FFFFFF"/>
                </a:highlight>
              </a:rPr>
              <a:t> </a:t>
            </a:r>
            <a:r>
              <a:rPr lang="uk-UA" sz="1400" dirty="0">
                <a:solidFill>
                  <a:srgbClr val="0D0D0D"/>
                </a:solidFill>
                <a:highlight>
                  <a:srgbClr val="FFFFFF"/>
                </a:highlight>
              </a:rPr>
              <a:t>реалізація серверної частини та обробка </a:t>
            </a:r>
            <a:r>
              <a:rPr lang="en-US" sz="1400" dirty="0">
                <a:solidFill>
                  <a:srgbClr val="0D0D0D"/>
                </a:solidFill>
                <a:highlight>
                  <a:srgbClr val="FFFFFF"/>
                </a:highlight>
              </a:rPr>
              <a:t>HTTP-</a:t>
            </a:r>
            <a:r>
              <a:rPr lang="uk-UA" sz="1400" dirty="0">
                <a:solidFill>
                  <a:srgbClr val="0D0D0D"/>
                </a:solidFill>
                <a:highlight>
                  <a:srgbClr val="FFFFFF"/>
                </a:highlight>
              </a:rPr>
              <a:t>запитів</a:t>
            </a:r>
            <a:r>
              <a:rPr lang="en-US" sz="1400" dirty="0">
                <a:solidFill>
                  <a:srgbClr val="0D0D0D"/>
                </a:solidFill>
                <a:highlight>
                  <a:srgbClr val="FFFFFF"/>
                </a:highlight>
              </a:rPr>
              <a:t>;</a:t>
            </a:r>
            <a:endParaRPr lang="uk-UA" sz="1400" dirty="0">
              <a:solidFill>
                <a:srgbClr val="0D0D0D"/>
              </a:solidFill>
              <a:highlight>
                <a:srgbClr val="FFFFFF"/>
              </a:highlight>
            </a:endParaRPr>
          </a:p>
          <a:p>
            <a:pPr marL="285750" lvl="0" indent="-285750" algn="just" rtl="0"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Font typeface="Open Sans" panose="020B0606030504020204" pitchFamily="34" charset="0"/>
              <a:buChar char="–"/>
            </a:pPr>
            <a:r>
              <a:rPr lang="en-US" sz="1400" dirty="0">
                <a:solidFill>
                  <a:srgbClr val="0D0D0D"/>
                </a:solidFill>
                <a:highlight>
                  <a:srgbClr val="FFFFFF"/>
                </a:highlight>
              </a:rPr>
              <a:t>Entity Framework Core </a:t>
            </a:r>
            <a:r>
              <a:rPr lang="uk-UA" sz="1400" dirty="0">
                <a:solidFill>
                  <a:srgbClr val="0D0D0D"/>
                </a:solidFill>
                <a:highlight>
                  <a:srgbClr val="FFFFFF"/>
                </a:highlight>
              </a:rPr>
              <a:t>–</a:t>
            </a:r>
            <a:r>
              <a:rPr lang="en-US" sz="1400" dirty="0">
                <a:solidFill>
                  <a:srgbClr val="0D0D0D"/>
                </a:solidFill>
                <a:highlight>
                  <a:srgbClr val="FFFFFF"/>
                </a:highlight>
              </a:rPr>
              <a:t> </a:t>
            </a:r>
            <a:r>
              <a:rPr lang="uk-UA" sz="1400" dirty="0">
                <a:solidFill>
                  <a:srgbClr val="0D0D0D"/>
                </a:solidFill>
                <a:highlight>
                  <a:srgbClr val="FFFFFF"/>
                </a:highlight>
              </a:rPr>
              <a:t>робота з базою даних та </a:t>
            </a:r>
            <a:r>
              <a:rPr lang="en-US" sz="1400" dirty="0">
                <a:solidFill>
                  <a:srgbClr val="0D0D0D"/>
                </a:solidFill>
                <a:highlight>
                  <a:srgbClr val="FFFFFF"/>
                </a:highlight>
              </a:rPr>
              <a:t>ORM-</a:t>
            </a:r>
            <a:r>
              <a:rPr lang="uk-UA" sz="1400" dirty="0">
                <a:solidFill>
                  <a:srgbClr val="0D0D0D"/>
                </a:solidFill>
                <a:highlight>
                  <a:srgbClr val="FFFFFF"/>
                </a:highlight>
              </a:rPr>
              <a:t>модель</a:t>
            </a:r>
            <a:r>
              <a:rPr lang="en-US" sz="1400" dirty="0">
                <a:solidFill>
                  <a:srgbClr val="0D0D0D"/>
                </a:solidFill>
                <a:highlight>
                  <a:srgbClr val="FFFFFF"/>
                </a:highlight>
              </a:rPr>
              <a:t>;</a:t>
            </a:r>
            <a:endParaRPr lang="uk-UA" sz="1400" dirty="0">
              <a:solidFill>
                <a:srgbClr val="0D0D0D"/>
              </a:solidFill>
              <a:highlight>
                <a:srgbClr val="FFFFFF"/>
              </a:highlight>
            </a:endParaRPr>
          </a:p>
          <a:p>
            <a:pPr marL="285750" lvl="0" indent="-285750" algn="just" rtl="0"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Font typeface="Open Sans" panose="020B0606030504020204" pitchFamily="34" charset="0"/>
              <a:buChar char="–"/>
            </a:pPr>
            <a:r>
              <a:rPr lang="en-US" sz="1400" dirty="0">
                <a:solidFill>
                  <a:srgbClr val="0D0D0D"/>
                </a:solidFill>
                <a:highlight>
                  <a:srgbClr val="FFFFFF"/>
                </a:highlight>
              </a:rPr>
              <a:t>JWT (JSON Web Token) </a:t>
            </a:r>
            <a:r>
              <a:rPr lang="uk-UA" sz="1400" dirty="0">
                <a:solidFill>
                  <a:srgbClr val="0D0D0D"/>
                </a:solidFill>
                <a:highlight>
                  <a:srgbClr val="FFFFFF"/>
                </a:highlight>
              </a:rPr>
              <a:t>–</a:t>
            </a:r>
            <a:r>
              <a:rPr lang="en-US" sz="1400" dirty="0">
                <a:solidFill>
                  <a:srgbClr val="0D0D0D"/>
                </a:solidFill>
                <a:highlight>
                  <a:srgbClr val="FFFFFF"/>
                </a:highlight>
              </a:rPr>
              <a:t> </a:t>
            </a:r>
            <a:r>
              <a:rPr lang="uk-UA" sz="1400" dirty="0">
                <a:solidFill>
                  <a:srgbClr val="0D0D0D"/>
                </a:solidFill>
                <a:highlight>
                  <a:srgbClr val="FFFFFF"/>
                </a:highlight>
              </a:rPr>
              <a:t>автентифікація та авторизація користувачів</a:t>
            </a:r>
            <a:r>
              <a:rPr lang="en-US" sz="1400" dirty="0">
                <a:solidFill>
                  <a:srgbClr val="0D0D0D"/>
                </a:solidFill>
                <a:highlight>
                  <a:srgbClr val="FFFFFF"/>
                </a:highlight>
              </a:rPr>
              <a:t>;</a:t>
            </a:r>
            <a:endParaRPr lang="uk-UA" sz="1400" dirty="0">
              <a:solidFill>
                <a:srgbClr val="0D0D0D"/>
              </a:solidFill>
              <a:highlight>
                <a:srgbClr val="FFFFFF"/>
              </a:highlight>
            </a:endParaRPr>
          </a:p>
          <a:p>
            <a:pPr marL="285750" lvl="0" indent="-285750" algn="just" rtl="0"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Font typeface="Open Sans" panose="020B0606030504020204" pitchFamily="34" charset="0"/>
              <a:buChar char="–"/>
            </a:pPr>
            <a:r>
              <a:rPr lang="en-US" sz="1400" dirty="0" err="1">
                <a:solidFill>
                  <a:srgbClr val="0D0D0D"/>
                </a:solidFill>
                <a:highlight>
                  <a:srgbClr val="FFFFFF"/>
                </a:highlight>
              </a:rPr>
              <a:t>SignalR</a:t>
            </a:r>
            <a:r>
              <a:rPr lang="en-US" sz="1400" dirty="0">
                <a:solidFill>
                  <a:srgbClr val="0D0D0D"/>
                </a:solidFill>
                <a:highlight>
                  <a:srgbClr val="FFFFFF"/>
                </a:highlight>
              </a:rPr>
              <a:t> </a:t>
            </a:r>
            <a:r>
              <a:rPr lang="uk-UA" sz="1400" dirty="0">
                <a:solidFill>
                  <a:srgbClr val="0D0D0D"/>
                </a:solidFill>
                <a:highlight>
                  <a:srgbClr val="FFFFFF"/>
                </a:highlight>
              </a:rPr>
              <a:t>–</a:t>
            </a:r>
            <a:r>
              <a:rPr lang="en-US" sz="1400" dirty="0">
                <a:solidFill>
                  <a:srgbClr val="0D0D0D"/>
                </a:solidFill>
                <a:highlight>
                  <a:srgbClr val="FFFFFF"/>
                </a:highlight>
              </a:rPr>
              <a:t> </a:t>
            </a:r>
            <a:r>
              <a:rPr lang="uk-UA" sz="1400" dirty="0">
                <a:solidFill>
                  <a:srgbClr val="0D0D0D"/>
                </a:solidFill>
                <a:highlight>
                  <a:srgbClr val="FFFFFF"/>
                </a:highlight>
              </a:rPr>
              <a:t>обмін даними в режимі реального часу (чати, оновлення)</a:t>
            </a:r>
            <a:r>
              <a:rPr lang="en-US" sz="1400" dirty="0">
                <a:solidFill>
                  <a:srgbClr val="0D0D0D"/>
                </a:solidFill>
                <a:highlight>
                  <a:srgbClr val="FFFFFF"/>
                </a:highlight>
              </a:rPr>
              <a:t>;</a:t>
            </a:r>
            <a:endParaRPr lang="uk-UA" sz="1400" dirty="0">
              <a:solidFill>
                <a:srgbClr val="0D0D0D"/>
              </a:solidFill>
              <a:highlight>
                <a:srgbClr val="FFFFFF"/>
              </a:highlight>
            </a:endParaRPr>
          </a:p>
          <a:p>
            <a:pPr marL="285750" lvl="0" indent="-285750" algn="just" rtl="0"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Font typeface="Open Sans" panose="020B0606030504020204" pitchFamily="34" charset="0"/>
              <a:buChar char="–"/>
            </a:pPr>
            <a:r>
              <a:rPr lang="en-US" sz="1400" dirty="0">
                <a:solidFill>
                  <a:srgbClr val="0D0D0D"/>
                </a:solidFill>
                <a:highlight>
                  <a:srgbClr val="FFFFFF"/>
                </a:highlight>
              </a:rPr>
              <a:t>Microsoft SQL Server </a:t>
            </a:r>
            <a:r>
              <a:rPr lang="uk-UA" sz="1400" dirty="0">
                <a:solidFill>
                  <a:srgbClr val="0D0D0D"/>
                </a:solidFill>
                <a:highlight>
                  <a:srgbClr val="FFFFFF"/>
                </a:highlight>
              </a:rPr>
              <a:t>–</a:t>
            </a:r>
            <a:r>
              <a:rPr lang="en-US" sz="1400" dirty="0">
                <a:solidFill>
                  <a:srgbClr val="0D0D0D"/>
                </a:solidFill>
                <a:highlight>
                  <a:srgbClr val="FFFFFF"/>
                </a:highlight>
              </a:rPr>
              <a:t> </a:t>
            </a:r>
            <a:r>
              <a:rPr lang="uk-UA" sz="1400" dirty="0">
                <a:solidFill>
                  <a:srgbClr val="0D0D0D"/>
                </a:solidFill>
                <a:highlight>
                  <a:srgbClr val="FFFFFF"/>
                </a:highlight>
              </a:rPr>
              <a:t>реляційна база даних для зберігання інформації</a:t>
            </a:r>
            <a:r>
              <a:rPr lang="en-US" sz="1400" dirty="0">
                <a:solidFill>
                  <a:srgbClr val="0D0D0D"/>
                </a:solidFill>
                <a:highlight>
                  <a:srgbClr val="FFFFFF"/>
                </a:highlight>
              </a:rPr>
              <a:t>;</a:t>
            </a:r>
            <a:endParaRPr lang="uk-UA" sz="1400" dirty="0">
              <a:solidFill>
                <a:srgbClr val="0D0D0D"/>
              </a:solidFill>
              <a:highlight>
                <a:srgbClr val="FFFFFF"/>
              </a:highlight>
            </a:endParaRPr>
          </a:p>
          <a:p>
            <a:pPr marL="285750" indent="-285750" algn="just">
              <a:lnSpc>
                <a:spcPct val="100000"/>
              </a:lnSpc>
              <a:spcBef>
                <a:spcPts val="1500"/>
              </a:spcBef>
              <a:buFont typeface="Open Sans" panose="020B0606030504020204" pitchFamily="34" charset="0"/>
              <a:buChar char="–"/>
            </a:pPr>
            <a:r>
              <a:rPr lang="en-US" sz="1400" dirty="0">
                <a:solidFill>
                  <a:srgbClr val="0D0D0D"/>
                </a:solidFill>
                <a:highlight>
                  <a:srgbClr val="FFFFFF"/>
                </a:highlight>
              </a:rPr>
              <a:t>Android (Kotlin) </a:t>
            </a:r>
            <a:r>
              <a:rPr lang="uk-UA" sz="1400" dirty="0">
                <a:solidFill>
                  <a:srgbClr val="0D0D0D"/>
                </a:solidFill>
                <a:highlight>
                  <a:srgbClr val="FFFFFF"/>
                </a:highlight>
              </a:rPr>
              <a:t>–</a:t>
            </a:r>
            <a:r>
              <a:rPr lang="en-US" sz="1400" dirty="0">
                <a:solidFill>
                  <a:srgbClr val="0D0D0D"/>
                </a:solidFill>
                <a:highlight>
                  <a:srgbClr val="FFFFFF"/>
                </a:highlight>
              </a:rPr>
              <a:t> </a:t>
            </a:r>
            <a:r>
              <a:rPr lang="uk-UA" sz="1400" dirty="0">
                <a:solidFill>
                  <a:srgbClr val="0D0D0D"/>
                </a:solidFill>
                <a:highlight>
                  <a:srgbClr val="FFFFFF"/>
                </a:highlight>
              </a:rPr>
              <a:t>розробка мобільного застосунку</a:t>
            </a:r>
            <a:r>
              <a:rPr lang="en-US" sz="1400" dirty="0">
                <a:solidFill>
                  <a:srgbClr val="0D0D0D"/>
                </a:solidFill>
                <a:highlight>
                  <a:srgbClr val="FFFFFF"/>
                </a:highlight>
              </a:rPr>
              <a:t>;</a:t>
            </a:r>
            <a:endParaRPr lang="uk-UA" sz="1400" dirty="0">
              <a:solidFill>
                <a:srgbClr val="0D0D0D"/>
              </a:solidFill>
              <a:highlight>
                <a:srgbClr val="FFFFFF"/>
              </a:highlight>
            </a:endParaRPr>
          </a:p>
          <a:p>
            <a:pPr marL="285750" lvl="0" indent="-285750" algn="just" rtl="0"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Font typeface="Open Sans" panose="020B0606030504020204" pitchFamily="34" charset="0"/>
              <a:buChar char="–"/>
            </a:pPr>
            <a:r>
              <a:rPr lang="en-US" sz="1400" dirty="0">
                <a:solidFill>
                  <a:srgbClr val="0D0D0D"/>
                </a:solidFill>
                <a:highlight>
                  <a:srgbClr val="FFFFFF"/>
                </a:highlight>
              </a:rPr>
              <a:t>Jetpack Compose </a:t>
            </a:r>
            <a:r>
              <a:rPr lang="uk-UA" sz="1400" dirty="0">
                <a:solidFill>
                  <a:srgbClr val="0D0D0D"/>
                </a:solidFill>
                <a:highlight>
                  <a:srgbClr val="FFFFFF"/>
                </a:highlight>
              </a:rPr>
              <a:t>–</a:t>
            </a:r>
            <a:r>
              <a:rPr lang="en-US" sz="1400" dirty="0">
                <a:solidFill>
                  <a:srgbClr val="0D0D0D"/>
                </a:solidFill>
                <a:highlight>
                  <a:srgbClr val="FFFFFF"/>
                </a:highlight>
              </a:rPr>
              <a:t> </a:t>
            </a:r>
            <a:r>
              <a:rPr lang="uk-UA" sz="1400" dirty="0">
                <a:solidFill>
                  <a:srgbClr val="0D0D0D"/>
                </a:solidFill>
                <a:highlight>
                  <a:srgbClr val="FFFFFF"/>
                </a:highlight>
              </a:rPr>
              <a:t>побудова сучасного </a:t>
            </a:r>
            <a:r>
              <a:rPr lang="en-US" sz="1400" dirty="0">
                <a:solidFill>
                  <a:srgbClr val="0D0D0D"/>
                </a:solidFill>
                <a:highlight>
                  <a:srgbClr val="FFFFFF"/>
                </a:highlight>
              </a:rPr>
              <a:t>UI </a:t>
            </a:r>
            <a:r>
              <a:rPr lang="uk-UA" sz="1400" dirty="0">
                <a:solidFill>
                  <a:srgbClr val="0D0D0D"/>
                </a:solidFill>
                <a:highlight>
                  <a:srgbClr val="FFFFFF"/>
                </a:highlight>
              </a:rPr>
              <a:t>мобільного застосунку</a:t>
            </a:r>
            <a:r>
              <a:rPr lang="en-US" sz="1400" dirty="0">
                <a:solidFill>
                  <a:srgbClr val="0D0D0D"/>
                </a:solidFill>
                <a:highlight>
                  <a:srgbClr val="FFFFFF"/>
                </a:highlight>
              </a:rPr>
              <a:t>;</a:t>
            </a:r>
            <a:endParaRPr lang="uk-UA" sz="1400" dirty="0">
              <a:solidFill>
                <a:srgbClr val="0D0D0D"/>
              </a:solidFill>
              <a:highlight>
                <a:srgbClr val="FFFFFF"/>
              </a:highlight>
            </a:endParaRPr>
          </a:p>
          <a:p>
            <a:pPr marL="285750" lvl="0" indent="-285750" algn="just" rtl="0"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Font typeface="Open Sans" panose="020B0606030504020204" pitchFamily="34" charset="0"/>
              <a:buChar char="–"/>
            </a:pPr>
            <a:r>
              <a:rPr lang="en-US" sz="1400" dirty="0">
                <a:solidFill>
                  <a:srgbClr val="0D0D0D"/>
                </a:solidFill>
                <a:highlight>
                  <a:srgbClr val="FFFFFF"/>
                </a:highlight>
              </a:rPr>
              <a:t>Firebase Cloud Messaging </a:t>
            </a:r>
            <a:r>
              <a:rPr lang="uk-UA" sz="1400" dirty="0">
                <a:solidFill>
                  <a:srgbClr val="0D0D0D"/>
                </a:solidFill>
                <a:highlight>
                  <a:srgbClr val="FFFFFF"/>
                </a:highlight>
              </a:rPr>
              <a:t>–</a:t>
            </a:r>
            <a:r>
              <a:rPr lang="en-US" sz="1400" dirty="0">
                <a:solidFill>
                  <a:srgbClr val="0D0D0D"/>
                </a:solidFill>
                <a:highlight>
                  <a:srgbClr val="FFFFFF"/>
                </a:highlight>
              </a:rPr>
              <a:t> push-</a:t>
            </a:r>
            <a:r>
              <a:rPr lang="uk-UA" sz="1400" dirty="0">
                <a:solidFill>
                  <a:srgbClr val="0D0D0D"/>
                </a:solidFill>
                <a:highlight>
                  <a:srgbClr val="FFFFFF"/>
                </a:highlight>
              </a:rPr>
              <a:t>сповіщення на пристрої користувачів</a:t>
            </a:r>
            <a:r>
              <a:rPr lang="en-US" sz="1400" dirty="0">
                <a:solidFill>
                  <a:srgbClr val="0D0D0D"/>
                </a:solidFill>
                <a:highlight>
                  <a:srgbClr val="FFFFFF"/>
                </a:highlight>
              </a:rPr>
              <a:t>;</a:t>
            </a:r>
            <a:endParaRPr lang="uk-UA" sz="1400" dirty="0">
              <a:solidFill>
                <a:srgbClr val="0D0D0D"/>
              </a:solidFill>
              <a:highlight>
                <a:srgbClr val="FFFFFF"/>
              </a:highlight>
            </a:endParaRPr>
          </a:p>
          <a:p>
            <a:pPr marL="285750" lvl="0" indent="-285750" algn="just" rtl="0"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Font typeface="Open Sans" panose="020B0606030504020204" pitchFamily="34" charset="0"/>
              <a:buChar char="–"/>
            </a:pPr>
            <a:r>
              <a:rPr lang="en-US" sz="1400" dirty="0">
                <a:solidFill>
                  <a:srgbClr val="0D0D0D"/>
                </a:solidFill>
                <a:highlight>
                  <a:srgbClr val="FFFFFF"/>
                </a:highlight>
              </a:rPr>
              <a:t>Cloudinary </a:t>
            </a:r>
            <a:r>
              <a:rPr lang="uk-UA" sz="1400" dirty="0">
                <a:solidFill>
                  <a:srgbClr val="0D0D0D"/>
                </a:solidFill>
                <a:highlight>
                  <a:srgbClr val="FFFFFF"/>
                </a:highlight>
              </a:rPr>
              <a:t>–</a:t>
            </a:r>
            <a:r>
              <a:rPr lang="en-US" sz="1400" dirty="0">
                <a:solidFill>
                  <a:srgbClr val="0D0D0D"/>
                </a:solidFill>
                <a:highlight>
                  <a:srgbClr val="FFFFFF"/>
                </a:highlight>
              </a:rPr>
              <a:t> </a:t>
            </a:r>
            <a:r>
              <a:rPr lang="uk-UA" sz="1400" dirty="0">
                <a:solidFill>
                  <a:srgbClr val="0D0D0D"/>
                </a:solidFill>
                <a:highlight>
                  <a:srgbClr val="FFFFFF"/>
                </a:highlight>
              </a:rPr>
              <a:t>зберігання та доставка </a:t>
            </a:r>
            <a:r>
              <a:rPr lang="uk-UA" sz="1400" dirty="0" err="1">
                <a:solidFill>
                  <a:srgbClr val="0D0D0D"/>
                </a:solidFill>
                <a:highlight>
                  <a:srgbClr val="FFFFFF"/>
                </a:highlight>
              </a:rPr>
              <a:t>медіафайлів</a:t>
            </a:r>
            <a:r>
              <a:rPr lang="en-US" sz="1400" dirty="0">
                <a:solidFill>
                  <a:srgbClr val="0D0D0D"/>
                </a:solidFill>
                <a:highlight>
                  <a:srgbClr val="FFFFFF"/>
                </a:highlight>
              </a:rPr>
              <a:t>.</a:t>
            </a:r>
            <a:endParaRPr sz="1400" dirty="0">
              <a:latin typeface="Economica" panose="020B0604020202020204" charset="0"/>
            </a:endParaRPr>
          </a:p>
        </p:txBody>
      </p:sp>
      <p:pic>
        <p:nvPicPr>
          <p:cNvPr id="94" name="Google Shape;94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343E912-C721-1128-5F72-D9BB9BCF5CCA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7</a:t>
            </a:fld>
            <a:endParaRPr lang="uk-UA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8"/>
          <p:cNvSpPr txBox="1">
            <a:spLocks noGrp="1"/>
          </p:cNvSpPr>
          <p:nvPr>
            <p:ph type="title"/>
          </p:nvPr>
        </p:nvSpPr>
        <p:spPr>
          <a:xfrm>
            <a:off x="268925" y="349659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uk" sz="3200" dirty="0"/>
              <a:t>Архітектура створеного програмного забезпечення</a:t>
            </a:r>
            <a:endParaRPr sz="3200" dirty="0"/>
          </a:p>
        </p:txBody>
      </p:sp>
      <p:pic>
        <p:nvPicPr>
          <p:cNvPr id="101" name="Google Shape;101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2A55726-B906-08A2-C43F-1B00FCF5F354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8</a:t>
            </a:fld>
            <a:endParaRPr lang="uk-UA" dirty="0"/>
          </a:p>
        </p:txBody>
      </p:sp>
      <p:sp>
        <p:nvSpPr>
          <p:cNvPr id="8" name="Google Shape;107;p19">
            <a:extLst>
              <a:ext uri="{FF2B5EF4-FFF2-40B4-BE49-F238E27FC236}">
                <a16:creationId xmlns:a16="http://schemas.microsoft.com/office/drawing/2014/main" id="{CC9595B8-42F1-40A4-8B8C-C7D13843AB7C}"/>
              </a:ext>
            </a:extLst>
          </p:cNvPr>
          <p:cNvSpPr txBox="1">
            <a:spLocks/>
          </p:cNvSpPr>
          <p:nvPr/>
        </p:nvSpPr>
        <p:spPr>
          <a:xfrm>
            <a:off x="2551852" y="3819074"/>
            <a:ext cx="3464738" cy="8313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●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indent="0">
              <a:spcBef>
                <a:spcPts val="1500"/>
              </a:spcBef>
              <a:spcAft>
                <a:spcPts val="1200"/>
              </a:spcAft>
              <a:buFont typeface="Open Sans"/>
              <a:buNone/>
            </a:pPr>
            <a:r>
              <a:rPr lang="en-US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UML-</a:t>
            </a:r>
            <a:r>
              <a:rPr lang="uk-UA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діаграма </a:t>
            </a:r>
            <a:r>
              <a:rPr lang="uk-UA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розгортування</a:t>
            </a:r>
            <a:r>
              <a:rPr lang="uk-UA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endParaRPr lang="ru-RU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483B789A-DFBC-496B-BD39-AE4B4436FA54}"/>
              </a:ext>
            </a:extLst>
          </p:cNvPr>
          <p:cNvPicPr/>
          <p:nvPr/>
        </p:nvPicPr>
        <p:blipFill>
          <a:blip r:embed="rId4"/>
          <a:stretch>
            <a:fillRect/>
          </a:stretch>
        </p:blipFill>
        <p:spPr>
          <a:xfrm>
            <a:off x="818884" y="1180959"/>
            <a:ext cx="7246184" cy="28597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8"/>
          <p:cNvSpPr txBox="1">
            <a:spLocks noGrp="1"/>
          </p:cNvSpPr>
          <p:nvPr>
            <p:ph type="title"/>
          </p:nvPr>
        </p:nvSpPr>
        <p:spPr>
          <a:xfrm>
            <a:off x="268924" y="349659"/>
            <a:ext cx="8559543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uk" sz="3200" dirty="0"/>
              <a:t>Архітектура створеного програмного забезпечення. Серверна частина</a:t>
            </a:r>
            <a:endParaRPr sz="3200" dirty="0"/>
          </a:p>
        </p:txBody>
      </p:sp>
      <p:sp>
        <p:nvSpPr>
          <p:cNvPr id="100" name="Google Shape;100;p18"/>
          <p:cNvSpPr txBox="1">
            <a:spLocks noGrp="1"/>
          </p:cNvSpPr>
          <p:nvPr>
            <p:ph type="body" idx="1"/>
          </p:nvPr>
        </p:nvSpPr>
        <p:spPr>
          <a:xfrm>
            <a:off x="422823" y="1233732"/>
            <a:ext cx="4531884" cy="341664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285750" indent="-285750" algn="just">
              <a:lnSpc>
                <a:spcPct val="100000"/>
              </a:lnSpc>
              <a:spcAft>
                <a:spcPts val="1500"/>
              </a:spcAft>
              <a:buFont typeface="Open Sans" panose="020B0606030504020204" pitchFamily="34" charset="0"/>
              <a:buChar char="–"/>
            </a:pPr>
            <a:r>
              <a:rPr lang="uk-UA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серверну частину програмної системи реалізовано відповідно до принципів багатошарової архітектури</a:t>
            </a:r>
            <a:r>
              <a:rPr lang="en-US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;</a:t>
            </a:r>
          </a:p>
          <a:p>
            <a:pPr marL="285750" indent="-285750" algn="just">
              <a:lnSpc>
                <a:spcPct val="100000"/>
              </a:lnSpc>
              <a:spcAft>
                <a:spcPts val="1500"/>
              </a:spcAft>
              <a:buFont typeface="Open Sans" panose="020B0606030504020204" pitchFamily="34" charset="0"/>
              <a:buChar char="–"/>
            </a:pPr>
            <a:r>
              <a:rPr lang="uk-UA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у межах системи використано </a:t>
            </a:r>
            <a:r>
              <a:rPr lang="uk-UA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трирівневу</a:t>
            </a:r>
            <a:r>
              <a:rPr lang="uk-UA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архітектуру: </a:t>
            </a:r>
            <a:r>
              <a:rPr lang="ru-RU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рівень</a:t>
            </a:r>
            <a:r>
              <a:rPr lang="ru-RU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ru-RU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представлення</a:t>
            </a:r>
            <a:r>
              <a:rPr lang="ru-RU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</a:t>
            </a:r>
            <a:r>
              <a:rPr lang="ru-RU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рівень</a:t>
            </a:r>
            <a:r>
              <a:rPr lang="ru-RU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ru-RU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бізнес-логіки</a:t>
            </a:r>
            <a:r>
              <a:rPr lang="ru-RU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і </a:t>
            </a:r>
            <a:r>
              <a:rPr lang="ru-RU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рівень</a:t>
            </a:r>
            <a:r>
              <a:rPr lang="ru-RU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доступу до </a:t>
            </a:r>
            <a:r>
              <a:rPr lang="ru-RU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даних</a:t>
            </a:r>
            <a:r>
              <a:rPr lang="ru-RU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.</a:t>
            </a:r>
            <a:endParaRPr lang="uk-UA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pic>
        <p:nvPicPr>
          <p:cNvPr id="101" name="Google Shape;101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2A55726-B906-08A2-C43F-1B00FCF5F354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9</a:t>
            </a:fld>
            <a:endParaRPr lang="uk-UA" dirty="0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EDC9CF80-B51F-400E-BF0F-EDE902664265}"/>
              </a:ext>
            </a:extLst>
          </p:cNvPr>
          <p:cNvPicPr/>
          <p:nvPr/>
        </p:nvPicPr>
        <p:blipFill>
          <a:blip r:embed="rId4"/>
          <a:stretch>
            <a:fillRect/>
          </a:stretch>
        </p:blipFill>
        <p:spPr>
          <a:xfrm>
            <a:off x="5769489" y="1093800"/>
            <a:ext cx="2151072" cy="33528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64526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7"/>
          <p:cNvSpPr txBox="1">
            <a:spLocks noGrp="1"/>
          </p:cNvSpPr>
          <p:nvPr>
            <p:ph type="title"/>
          </p:nvPr>
        </p:nvSpPr>
        <p:spPr>
          <a:xfrm>
            <a:off x="311700" y="-148309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uk" sz="3200" dirty="0"/>
              <a:t>Структура бази даних</a:t>
            </a:r>
            <a:endParaRPr sz="3200" dirty="0"/>
          </a:p>
        </p:txBody>
      </p:sp>
      <p:pic>
        <p:nvPicPr>
          <p:cNvPr id="94" name="Google Shape;94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343E912-C721-1128-5F72-D9BB9BCF5CCA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10</a:t>
            </a:fld>
            <a:endParaRPr lang="uk-UA" dirty="0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88448A10-2209-4041-BA78-F828D665EB2D}"/>
              </a:ext>
            </a:extLst>
          </p:cNvPr>
          <p:cNvPicPr/>
          <p:nvPr/>
        </p:nvPicPr>
        <p:blipFill>
          <a:blip r:embed="rId4"/>
          <a:stretch>
            <a:fillRect/>
          </a:stretch>
        </p:blipFill>
        <p:spPr>
          <a:xfrm>
            <a:off x="1698880" y="634641"/>
            <a:ext cx="5585429" cy="40732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887933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9"/>
          <p:cNvSpPr txBox="1">
            <a:spLocks noGrp="1"/>
          </p:cNvSpPr>
          <p:nvPr>
            <p:ph type="title"/>
          </p:nvPr>
        </p:nvSpPr>
        <p:spPr>
          <a:xfrm>
            <a:off x="311700" y="312400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uk" sz="3200" dirty="0"/>
              <a:t>Опис програмного забезпечення, що було використано</a:t>
            </a:r>
            <a:endParaRPr sz="3200" dirty="0"/>
          </a:p>
        </p:txBody>
      </p:sp>
      <p:sp>
        <p:nvSpPr>
          <p:cNvPr id="107" name="Google Shape;107;p19"/>
          <p:cNvSpPr txBox="1">
            <a:spLocks noGrp="1"/>
          </p:cNvSpPr>
          <p:nvPr>
            <p:ph type="body" idx="1"/>
          </p:nvPr>
        </p:nvSpPr>
        <p:spPr>
          <a:xfrm>
            <a:off x="561820" y="2307637"/>
            <a:ext cx="1682445" cy="83130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1500"/>
              </a:spcBef>
              <a:spcAft>
                <a:spcPts val="1200"/>
              </a:spcAft>
              <a:buNone/>
            </a:pPr>
            <a:r>
              <a:rPr lang="en-US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Visual Studio</a:t>
            </a:r>
            <a:endParaRPr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pic>
        <p:nvPicPr>
          <p:cNvPr id="108" name="Google Shape;108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226AFC1-F793-030A-440F-FC50C3AEF715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11</a:t>
            </a:fld>
            <a:endParaRPr lang="uk-UA" dirty="0"/>
          </a:p>
        </p:txBody>
      </p:sp>
      <p:pic>
        <p:nvPicPr>
          <p:cNvPr id="2050" name="Picture 2" descr="Visual Studio 2022 Download - ComputerBase">
            <a:extLst>
              <a:ext uri="{FF2B5EF4-FFF2-40B4-BE49-F238E27FC236}">
                <a16:creationId xmlns:a16="http://schemas.microsoft.com/office/drawing/2014/main" id="{2C18BB4C-29D1-4323-A7FA-A97DFF5142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7437" y="1302681"/>
            <a:ext cx="1088230" cy="10882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5D6A3BA0-EB48-4ED8-86B8-A17CDF756DD2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21682" t="14011" r="19623" b="16495"/>
          <a:stretch/>
        </p:blipFill>
        <p:spPr>
          <a:xfrm>
            <a:off x="2890159" y="1310539"/>
            <a:ext cx="920787" cy="1090177"/>
          </a:xfrm>
          <a:prstGeom prst="rect">
            <a:avLst/>
          </a:prstGeom>
        </p:spPr>
      </p:pic>
      <p:pic>
        <p:nvPicPr>
          <p:cNvPr id="2054" name="Picture 6" descr="What is SQL Server Management Studio (SSMS) and How to Install it? | by  Ahmet ORHAN | DevOps.dev">
            <a:extLst>
              <a:ext uri="{FF2B5EF4-FFF2-40B4-BE49-F238E27FC236}">
                <a16:creationId xmlns:a16="http://schemas.microsoft.com/office/drawing/2014/main" id="{051B3F35-8B96-474E-8A39-C991FF0F27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02831" y="1143700"/>
            <a:ext cx="1406192" cy="14061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 descr="ASP.NET Core Swagger UI Authorization using IdentityServer4">
            <a:extLst>
              <a:ext uri="{FF2B5EF4-FFF2-40B4-BE49-F238E27FC236}">
                <a16:creationId xmlns:a16="http://schemas.microsoft.com/office/drawing/2014/main" id="{813AAB84-5386-4E41-9BD2-E94FB6B0D6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92102" y="3403822"/>
            <a:ext cx="2393189" cy="670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DD846394-4223-4D33-A667-BB9E1A84452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04593" y="1278897"/>
            <a:ext cx="1145325" cy="1145325"/>
          </a:xfrm>
          <a:prstGeom prst="rect">
            <a:avLst/>
          </a:prstGeom>
        </p:spPr>
      </p:pic>
      <p:pic>
        <p:nvPicPr>
          <p:cNvPr id="2060" name="Picture 12" descr="How To Upload Multiple files to Cloudinary in Nodejs using Promise.all |  Codementor">
            <a:extLst>
              <a:ext uri="{FF2B5EF4-FFF2-40B4-BE49-F238E27FC236}">
                <a16:creationId xmlns:a16="http://schemas.microsoft.com/office/drawing/2014/main" id="{A836A828-E96A-41D3-B0A6-DE5A31627D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5407" y="3508485"/>
            <a:ext cx="2374900" cy="4547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2" name="Picture 14" descr="Firebase expands to become a unified app platform - Google Developers Blog">
            <a:extLst>
              <a:ext uri="{FF2B5EF4-FFF2-40B4-BE49-F238E27FC236}">
                <a16:creationId xmlns:a16="http://schemas.microsoft.com/office/drawing/2014/main" id="{115F09DF-78D8-4F33-9150-09618147B63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128" t="19890" r="11740" b="25238"/>
          <a:stretch/>
        </p:blipFill>
        <p:spPr bwMode="auto">
          <a:xfrm>
            <a:off x="3306252" y="3342597"/>
            <a:ext cx="1959764" cy="7053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Google Shape;107;p19">
            <a:extLst>
              <a:ext uri="{FF2B5EF4-FFF2-40B4-BE49-F238E27FC236}">
                <a16:creationId xmlns:a16="http://schemas.microsoft.com/office/drawing/2014/main" id="{5DBC75D1-1ADD-4797-B60C-360EC11A789A}"/>
              </a:ext>
            </a:extLst>
          </p:cNvPr>
          <p:cNvSpPr txBox="1">
            <a:spLocks/>
          </p:cNvSpPr>
          <p:nvPr/>
        </p:nvSpPr>
        <p:spPr>
          <a:xfrm>
            <a:off x="2454399" y="2307637"/>
            <a:ext cx="1803064" cy="8313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●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indent="0">
              <a:spcBef>
                <a:spcPts val="1500"/>
              </a:spcBef>
              <a:spcAft>
                <a:spcPts val="1200"/>
              </a:spcAft>
              <a:buFont typeface="Open Sans"/>
              <a:buNone/>
            </a:pPr>
            <a:r>
              <a:rPr lang="en-US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Android Studio</a:t>
            </a:r>
          </a:p>
        </p:txBody>
      </p:sp>
      <p:sp>
        <p:nvSpPr>
          <p:cNvPr id="16" name="Google Shape;107;p19">
            <a:extLst>
              <a:ext uri="{FF2B5EF4-FFF2-40B4-BE49-F238E27FC236}">
                <a16:creationId xmlns:a16="http://schemas.microsoft.com/office/drawing/2014/main" id="{BB8C4B8F-23AD-4920-8429-8C1C0C202522}"/>
              </a:ext>
            </a:extLst>
          </p:cNvPr>
          <p:cNvSpPr txBox="1">
            <a:spLocks/>
          </p:cNvSpPr>
          <p:nvPr/>
        </p:nvSpPr>
        <p:spPr>
          <a:xfrm>
            <a:off x="4318174" y="2216996"/>
            <a:ext cx="2393189" cy="8313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●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indent="0" algn="ctr">
              <a:spcBef>
                <a:spcPts val="1500"/>
              </a:spcBef>
              <a:spcAft>
                <a:spcPts val="1200"/>
              </a:spcAft>
              <a:buFont typeface="Open Sans"/>
              <a:buNone/>
            </a:pPr>
            <a:r>
              <a:rPr lang="en-US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SQL Server Management Studio</a:t>
            </a:r>
          </a:p>
        </p:txBody>
      </p:sp>
      <p:sp>
        <p:nvSpPr>
          <p:cNvPr id="17" name="Google Shape;107;p19">
            <a:extLst>
              <a:ext uri="{FF2B5EF4-FFF2-40B4-BE49-F238E27FC236}">
                <a16:creationId xmlns:a16="http://schemas.microsoft.com/office/drawing/2014/main" id="{961CD5E7-79F6-4C3F-A037-5399F038DE03}"/>
              </a:ext>
            </a:extLst>
          </p:cNvPr>
          <p:cNvSpPr txBox="1">
            <a:spLocks/>
          </p:cNvSpPr>
          <p:nvPr/>
        </p:nvSpPr>
        <p:spPr>
          <a:xfrm>
            <a:off x="7145792" y="2304598"/>
            <a:ext cx="1062926" cy="8260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●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indent="0" algn="ctr">
              <a:spcBef>
                <a:spcPts val="1500"/>
              </a:spcBef>
              <a:spcAft>
                <a:spcPts val="1200"/>
              </a:spcAft>
              <a:buFont typeface="Open Sans"/>
              <a:buNone/>
            </a:pPr>
            <a:r>
              <a:rPr lang="en-US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GitHub</a:t>
            </a:r>
          </a:p>
        </p:txBody>
      </p:sp>
    </p:spTree>
    <p:extLst>
      <p:ext uri="{BB962C8B-B14F-4D97-AF65-F5344CB8AC3E}">
        <p14:creationId xmlns:p14="http://schemas.microsoft.com/office/powerpoint/2010/main" val="20645130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1"/>
          <p:cNvSpPr txBox="1">
            <a:spLocks noGrp="1"/>
          </p:cNvSpPr>
          <p:nvPr>
            <p:ph type="title"/>
          </p:nvPr>
        </p:nvSpPr>
        <p:spPr>
          <a:xfrm>
            <a:off x="268925" y="-152998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uk" sz="3200" dirty="0"/>
              <a:t>Приклад реалізації</a:t>
            </a:r>
            <a:endParaRPr sz="3200" dirty="0"/>
          </a:p>
        </p:txBody>
      </p:sp>
      <p:pic>
        <p:nvPicPr>
          <p:cNvPr id="122" name="Google Shape;122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8800C66-AABB-EFA8-12F4-0C56A1243712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12</a:t>
            </a:fld>
            <a:endParaRPr lang="uk-UA" dirty="0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527CA5E5-BCA4-4CEA-BE2A-A879088B64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85416" y="1441318"/>
            <a:ext cx="6373167" cy="2768732"/>
          </a:xfrm>
          <a:prstGeom prst="rect">
            <a:avLst/>
          </a:prstGeom>
        </p:spPr>
      </p:pic>
      <p:sp>
        <p:nvSpPr>
          <p:cNvPr id="9" name="Google Shape;107;p19">
            <a:extLst>
              <a:ext uri="{FF2B5EF4-FFF2-40B4-BE49-F238E27FC236}">
                <a16:creationId xmlns:a16="http://schemas.microsoft.com/office/drawing/2014/main" id="{DE0F0E75-6171-4FC8-A810-AECCD994C7B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4660" y="590726"/>
            <a:ext cx="8444263" cy="112696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 rtl="0">
              <a:spcBef>
                <a:spcPts val="1500"/>
              </a:spcBef>
              <a:spcAft>
                <a:spcPts val="1200"/>
              </a:spcAft>
              <a:buNone/>
            </a:pPr>
            <a:r>
              <a:rPr lang="ru-RU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Алгоритм </a:t>
            </a:r>
            <a:r>
              <a:rPr lang="ru-RU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перевірки</a:t>
            </a:r>
            <a:r>
              <a:rPr lang="ru-RU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прав доступу з </a:t>
            </a:r>
            <a:r>
              <a:rPr lang="ru-RU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розмежуванням</a:t>
            </a:r>
            <a:r>
              <a:rPr lang="ru-RU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ru-RU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даних</a:t>
            </a:r>
            <a:r>
              <a:rPr lang="ru-RU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:</a:t>
            </a:r>
            <a:endParaRPr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1"/>
          <p:cNvSpPr txBox="1">
            <a:spLocks noGrp="1"/>
          </p:cNvSpPr>
          <p:nvPr>
            <p:ph type="title"/>
          </p:nvPr>
        </p:nvSpPr>
        <p:spPr>
          <a:xfrm>
            <a:off x="268925" y="-152998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uk" sz="3200" dirty="0"/>
              <a:t>Приклад реалізації</a:t>
            </a:r>
            <a:endParaRPr sz="3200" dirty="0"/>
          </a:p>
        </p:txBody>
      </p:sp>
      <p:pic>
        <p:nvPicPr>
          <p:cNvPr id="122" name="Google Shape;122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8800C66-AABB-EFA8-12F4-0C56A1243712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13</a:t>
            </a:fld>
            <a:endParaRPr lang="uk-UA" dirty="0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C5E3CEB1-0B30-4A00-918E-568A629CB1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34223" y="1423115"/>
            <a:ext cx="4606700" cy="3306649"/>
          </a:xfrm>
          <a:prstGeom prst="rect">
            <a:avLst/>
          </a:prstGeom>
        </p:spPr>
      </p:pic>
      <p:sp>
        <p:nvSpPr>
          <p:cNvPr id="11" name="Google Shape;107;p19">
            <a:extLst>
              <a:ext uri="{FF2B5EF4-FFF2-40B4-BE49-F238E27FC236}">
                <a16:creationId xmlns:a16="http://schemas.microsoft.com/office/drawing/2014/main" id="{6EC8F544-8E77-4ADF-9514-C1039104D69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33977" y="487880"/>
            <a:ext cx="8444263" cy="112696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 rtl="0">
              <a:spcBef>
                <a:spcPts val="1500"/>
              </a:spcBef>
              <a:spcAft>
                <a:spcPts val="1200"/>
              </a:spcAft>
              <a:buNone/>
            </a:pPr>
            <a:r>
              <a:rPr lang="ru-RU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Алгоритм </a:t>
            </a:r>
            <a:r>
              <a:rPr lang="ru-RU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отримання</a:t>
            </a:r>
            <a:r>
              <a:rPr lang="ru-RU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ru-RU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ідентифікатора</a:t>
            </a:r>
            <a:r>
              <a:rPr lang="ru-RU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ресурсу з </a:t>
            </a:r>
            <a:r>
              <a:rPr lang="en-US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URL-</a:t>
            </a:r>
            <a:r>
              <a:rPr lang="ru-RU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адреси</a:t>
            </a:r>
            <a:r>
              <a:rPr lang="ru-RU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ru-RU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хмарного</a:t>
            </a:r>
            <a:r>
              <a:rPr lang="ru-RU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ru-RU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сховища</a:t>
            </a:r>
            <a:r>
              <a:rPr lang="ru-RU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US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Cloudinary</a:t>
            </a:r>
            <a:r>
              <a:rPr lang="uk-UA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:</a:t>
            </a:r>
            <a:endParaRPr lang="en-US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485305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22"/>
          <p:cNvSpPr txBox="1">
            <a:spLocks noGrp="1"/>
          </p:cNvSpPr>
          <p:nvPr>
            <p:ph type="title"/>
          </p:nvPr>
        </p:nvSpPr>
        <p:spPr>
          <a:xfrm>
            <a:off x="268925" y="-143620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uk" sz="3200" dirty="0"/>
              <a:t>Інтерфейс користувача. Серверна частина</a:t>
            </a:r>
            <a:endParaRPr sz="3200" dirty="0"/>
          </a:p>
        </p:txBody>
      </p:sp>
      <p:pic>
        <p:nvPicPr>
          <p:cNvPr id="129" name="Google Shape;129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28D948D-369C-B702-98D8-76BFF8794D17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14</a:t>
            </a:fld>
            <a:endParaRPr lang="uk-UA" dirty="0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77D5B9F4-BC89-42AD-8F23-42916D17DF3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8674" y="653446"/>
            <a:ext cx="3631949" cy="1582468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F533E8C4-983E-4F9F-81FA-28811C99E1F6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b="16061"/>
          <a:stretch/>
        </p:blipFill>
        <p:spPr>
          <a:xfrm>
            <a:off x="4944147" y="653446"/>
            <a:ext cx="3502157" cy="3409838"/>
          </a:xfrm>
          <a:prstGeom prst="rect">
            <a:avLst/>
          </a:prstGeom>
        </p:spPr>
      </p:pic>
      <p:sp>
        <p:nvSpPr>
          <p:cNvPr id="13" name="Google Shape;107;p19">
            <a:extLst>
              <a:ext uri="{FF2B5EF4-FFF2-40B4-BE49-F238E27FC236}">
                <a16:creationId xmlns:a16="http://schemas.microsoft.com/office/drawing/2014/main" id="{16AEBAEF-7D51-420A-A1AC-BF4960213A4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208951" y="1943300"/>
            <a:ext cx="4735196" cy="64117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1500"/>
              </a:spcBef>
              <a:spcAft>
                <a:spcPts val="1200"/>
              </a:spcAft>
              <a:buNone/>
            </a:pPr>
            <a:r>
              <a:rPr lang="uk-UA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Автентифікація адміністратора системи</a:t>
            </a:r>
            <a:endParaRPr lang="en-US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4" name="Google Shape;107;p19">
            <a:extLst>
              <a:ext uri="{FF2B5EF4-FFF2-40B4-BE49-F238E27FC236}">
                <a16:creationId xmlns:a16="http://schemas.microsoft.com/office/drawing/2014/main" id="{96175ABE-A5AF-42CD-91A9-2012C09541A1}"/>
              </a:ext>
            </a:extLst>
          </p:cNvPr>
          <p:cNvSpPr txBox="1">
            <a:spLocks/>
          </p:cNvSpPr>
          <p:nvPr/>
        </p:nvSpPr>
        <p:spPr>
          <a:xfrm>
            <a:off x="5307863" y="3887591"/>
            <a:ext cx="2838748" cy="8886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●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indent="0" algn="ctr">
              <a:spcBef>
                <a:spcPts val="1500"/>
              </a:spcBef>
              <a:spcAft>
                <a:spcPts val="1200"/>
              </a:spcAft>
              <a:buFont typeface="Open Sans"/>
              <a:buNone/>
            </a:pPr>
            <a:r>
              <a:rPr lang="uk-UA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Список зареєстрованих дитячих центрів</a:t>
            </a:r>
            <a:endParaRPr lang="en-US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F2C2ECED-A4EA-4096-8E27-847468FCDF29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b="26408"/>
          <a:stretch/>
        </p:blipFill>
        <p:spPr>
          <a:xfrm>
            <a:off x="1687642" y="2597661"/>
            <a:ext cx="2655948" cy="1887586"/>
          </a:xfrm>
          <a:prstGeom prst="rect">
            <a:avLst/>
          </a:prstGeom>
        </p:spPr>
      </p:pic>
      <p:sp>
        <p:nvSpPr>
          <p:cNvPr id="17" name="Google Shape;107;p19">
            <a:extLst>
              <a:ext uri="{FF2B5EF4-FFF2-40B4-BE49-F238E27FC236}">
                <a16:creationId xmlns:a16="http://schemas.microsoft.com/office/drawing/2014/main" id="{24A1FCFD-6567-469E-B771-42004AF83571}"/>
              </a:ext>
            </a:extLst>
          </p:cNvPr>
          <p:cNvSpPr txBox="1">
            <a:spLocks/>
          </p:cNvSpPr>
          <p:nvPr/>
        </p:nvSpPr>
        <p:spPr>
          <a:xfrm>
            <a:off x="1297174" y="4216471"/>
            <a:ext cx="3327548" cy="9403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●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indent="0" algn="ctr">
              <a:spcBef>
                <a:spcPts val="1500"/>
              </a:spcBef>
              <a:spcAft>
                <a:spcPts val="1200"/>
              </a:spcAft>
              <a:buFont typeface="Open Sans"/>
              <a:buNone/>
            </a:pPr>
            <a:r>
              <a:rPr lang="uk-UA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Редагування даних дитини</a:t>
            </a:r>
            <a:endParaRPr lang="en-US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22"/>
          <p:cNvSpPr txBox="1">
            <a:spLocks noGrp="1"/>
          </p:cNvSpPr>
          <p:nvPr>
            <p:ph type="title"/>
          </p:nvPr>
        </p:nvSpPr>
        <p:spPr>
          <a:xfrm>
            <a:off x="186374" y="-143620"/>
            <a:ext cx="8875076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uk" sz="3200" dirty="0"/>
              <a:t>Інтерфейс користувача. Мобільний застосунок</a:t>
            </a:r>
            <a:endParaRPr sz="3200" dirty="0"/>
          </a:p>
        </p:txBody>
      </p:sp>
      <p:pic>
        <p:nvPicPr>
          <p:cNvPr id="129" name="Google Shape;129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28D948D-369C-B702-98D8-76BFF8794D17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15</a:t>
            </a:fld>
            <a:endParaRPr lang="uk-UA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E12262F0-C635-4E2A-AD51-4BB5E903883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39691" y="687680"/>
            <a:ext cx="1540382" cy="3245167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3C6210C8-97A0-4388-B4FF-ECF77E707DE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5557" y="683401"/>
            <a:ext cx="1549860" cy="3249446"/>
          </a:xfrm>
          <a:prstGeom prst="rect">
            <a:avLst/>
          </a:prstGeom>
        </p:spPr>
      </p:pic>
      <p:sp>
        <p:nvSpPr>
          <p:cNvPr id="9" name="Google Shape;107;p19">
            <a:extLst>
              <a:ext uri="{FF2B5EF4-FFF2-40B4-BE49-F238E27FC236}">
                <a16:creationId xmlns:a16="http://schemas.microsoft.com/office/drawing/2014/main" id="{99F6A503-C373-4017-BFFE-83DA96101EE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52422" y="3770711"/>
            <a:ext cx="2023253" cy="5817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 rtl="0">
              <a:spcBef>
                <a:spcPts val="1500"/>
              </a:spcBef>
              <a:spcAft>
                <a:spcPts val="1200"/>
              </a:spcAft>
              <a:buNone/>
            </a:pPr>
            <a:r>
              <a:rPr lang="uk-UA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Екран автентифікації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B61AD99D-28D1-430D-A81D-634C79548BF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02624" y="683401"/>
            <a:ext cx="1576011" cy="3245167"/>
          </a:xfrm>
          <a:prstGeom prst="rect">
            <a:avLst/>
          </a:prstGeom>
        </p:spPr>
      </p:pic>
      <p:sp>
        <p:nvSpPr>
          <p:cNvPr id="16" name="Google Shape;107;p19">
            <a:extLst>
              <a:ext uri="{FF2B5EF4-FFF2-40B4-BE49-F238E27FC236}">
                <a16:creationId xmlns:a16="http://schemas.microsoft.com/office/drawing/2014/main" id="{487593A2-A7EE-4456-9CA1-0801CE2C37E9}"/>
              </a:ext>
            </a:extLst>
          </p:cNvPr>
          <p:cNvSpPr txBox="1">
            <a:spLocks/>
          </p:cNvSpPr>
          <p:nvPr/>
        </p:nvSpPr>
        <p:spPr>
          <a:xfrm>
            <a:off x="2322178" y="3770711"/>
            <a:ext cx="1540382" cy="6411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●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indent="0" algn="just">
              <a:spcBef>
                <a:spcPts val="1500"/>
              </a:spcBef>
              <a:spcAft>
                <a:spcPts val="1200"/>
              </a:spcAft>
              <a:buFont typeface="Open Sans"/>
              <a:buNone/>
            </a:pPr>
            <a:r>
              <a:rPr lang="uk-UA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Розклад занять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7" name="Google Shape;107;p19">
            <a:extLst>
              <a:ext uri="{FF2B5EF4-FFF2-40B4-BE49-F238E27FC236}">
                <a16:creationId xmlns:a16="http://schemas.microsoft.com/office/drawing/2014/main" id="{89BF0CD7-89BD-446F-ACCC-B92215E6B9F7}"/>
              </a:ext>
            </a:extLst>
          </p:cNvPr>
          <p:cNvSpPr txBox="1">
            <a:spLocks/>
          </p:cNvSpPr>
          <p:nvPr/>
        </p:nvSpPr>
        <p:spPr>
          <a:xfrm>
            <a:off x="3941696" y="3770711"/>
            <a:ext cx="2058759" cy="6411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●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indent="0" algn="just">
              <a:spcBef>
                <a:spcPts val="1500"/>
              </a:spcBef>
              <a:spcAft>
                <a:spcPts val="1200"/>
              </a:spcAft>
              <a:buFont typeface="Open Sans"/>
              <a:buNone/>
            </a:pPr>
            <a:r>
              <a:rPr lang="uk-UA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Профіль користувача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76E0C209-CE14-4035-9CD7-EB541981095E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b="40392"/>
          <a:stretch/>
        </p:blipFill>
        <p:spPr>
          <a:xfrm>
            <a:off x="6256407" y="706635"/>
            <a:ext cx="2039787" cy="1218484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1686C6BA-23BA-4FDF-AC70-10716F8D733A}"/>
              </a:ext>
            </a:extLst>
          </p:cNvPr>
          <p:cNvPicPr>
            <a:picLocks noChangeAspect="1"/>
          </p:cNvPicPr>
          <p:nvPr/>
        </p:nvPicPr>
        <p:blipFill rotWithShape="1">
          <a:blip r:embed="rId8"/>
          <a:srcRect b="39142"/>
          <a:stretch/>
        </p:blipFill>
        <p:spPr>
          <a:xfrm>
            <a:off x="6283987" y="2594954"/>
            <a:ext cx="2035381" cy="1195412"/>
          </a:xfrm>
          <a:prstGeom prst="rect">
            <a:avLst/>
          </a:prstGeom>
        </p:spPr>
      </p:pic>
      <p:sp>
        <p:nvSpPr>
          <p:cNvPr id="13" name="Google Shape;107;p19">
            <a:extLst>
              <a:ext uri="{FF2B5EF4-FFF2-40B4-BE49-F238E27FC236}">
                <a16:creationId xmlns:a16="http://schemas.microsoft.com/office/drawing/2014/main" id="{20E8B6DE-C174-403B-949F-2C90C07E7D59}"/>
              </a:ext>
            </a:extLst>
          </p:cNvPr>
          <p:cNvSpPr txBox="1">
            <a:spLocks/>
          </p:cNvSpPr>
          <p:nvPr/>
        </p:nvSpPr>
        <p:spPr>
          <a:xfrm>
            <a:off x="6058119" y="1686079"/>
            <a:ext cx="2541603" cy="581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●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indent="0" algn="just">
              <a:spcBef>
                <a:spcPts val="1500"/>
              </a:spcBef>
              <a:spcAft>
                <a:spcPts val="1200"/>
              </a:spcAft>
              <a:buFont typeface="Open Sans"/>
              <a:buNone/>
            </a:pPr>
            <a:r>
              <a: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Push</a:t>
            </a:r>
            <a:r>
              <a:rPr lang="uk-UA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-сповіщення про нове заняття (згорнутий вигляд)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4" name="Google Shape;107;p19">
            <a:extLst>
              <a:ext uri="{FF2B5EF4-FFF2-40B4-BE49-F238E27FC236}">
                <a16:creationId xmlns:a16="http://schemas.microsoft.com/office/drawing/2014/main" id="{2D91EF75-B501-4922-BC96-F173BD9DBADC}"/>
              </a:ext>
            </a:extLst>
          </p:cNvPr>
          <p:cNvSpPr txBox="1">
            <a:spLocks/>
          </p:cNvSpPr>
          <p:nvPr/>
        </p:nvSpPr>
        <p:spPr>
          <a:xfrm>
            <a:off x="6075442" y="3594484"/>
            <a:ext cx="2773001" cy="581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●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indent="0" algn="just">
              <a:spcBef>
                <a:spcPts val="1500"/>
              </a:spcBef>
              <a:spcAft>
                <a:spcPts val="1200"/>
              </a:spcAft>
              <a:buFont typeface="Open Sans"/>
              <a:buNone/>
            </a:pPr>
            <a:r>
              <a: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Push</a:t>
            </a:r>
            <a:r>
              <a:rPr lang="uk-UA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-сповіщення про нове заняття (розгорнутий вигляд)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0794268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22"/>
          <p:cNvSpPr txBox="1">
            <a:spLocks noGrp="1"/>
          </p:cNvSpPr>
          <p:nvPr>
            <p:ph type="title"/>
          </p:nvPr>
        </p:nvSpPr>
        <p:spPr>
          <a:xfrm>
            <a:off x="268925" y="-143620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uk" sz="3200" dirty="0"/>
              <a:t>Тестування</a:t>
            </a:r>
            <a:endParaRPr sz="3200" dirty="0"/>
          </a:p>
        </p:txBody>
      </p:sp>
      <p:pic>
        <p:nvPicPr>
          <p:cNvPr id="129" name="Google Shape;129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28D948D-369C-B702-98D8-76BFF8794D17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16</a:t>
            </a:fld>
            <a:endParaRPr lang="uk-UA" dirty="0"/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99CC6C18-2A19-4628-8782-F282C3D772A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7497" y="1121000"/>
            <a:ext cx="4075032" cy="3238500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E0A51AE5-252C-4EA9-B4DE-565E9EC0370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38156" y="1117998"/>
            <a:ext cx="4075032" cy="3241502"/>
          </a:xfrm>
          <a:prstGeom prst="rect">
            <a:avLst/>
          </a:prstGeom>
        </p:spPr>
      </p:pic>
      <p:sp>
        <p:nvSpPr>
          <p:cNvPr id="19" name="Google Shape;107;p19">
            <a:extLst>
              <a:ext uri="{FF2B5EF4-FFF2-40B4-BE49-F238E27FC236}">
                <a16:creationId xmlns:a16="http://schemas.microsoft.com/office/drawing/2014/main" id="{CD9CF7DA-C4B3-40B0-B56E-5AEE572E0D7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268925" y="466692"/>
            <a:ext cx="8444263" cy="112696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 rtl="0">
              <a:spcBef>
                <a:spcPts val="1500"/>
              </a:spcBef>
              <a:spcAft>
                <a:spcPts val="1200"/>
              </a:spcAft>
              <a:buNone/>
            </a:pPr>
            <a:r>
              <a:rPr lang="ru-RU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Приклади</a:t>
            </a:r>
            <a:r>
              <a:rPr lang="ru-RU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тест-</a:t>
            </a:r>
            <a:r>
              <a:rPr lang="ru-RU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кейсів</a:t>
            </a:r>
            <a:r>
              <a:rPr lang="ru-RU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для </a:t>
            </a:r>
            <a:r>
              <a:rPr lang="ru-RU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серверної</a:t>
            </a:r>
            <a:r>
              <a:rPr lang="ru-RU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ru-RU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частини</a:t>
            </a:r>
            <a:r>
              <a:rPr lang="ru-RU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та </a:t>
            </a:r>
            <a:r>
              <a:rPr lang="ru-RU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мобільного</a:t>
            </a:r>
            <a:r>
              <a:rPr lang="ru-RU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ru-RU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застосунку</a:t>
            </a:r>
            <a:r>
              <a:rPr lang="ru-RU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2942211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4"/>
          <p:cNvSpPr txBox="1">
            <a:spLocks noGrp="1"/>
          </p:cNvSpPr>
          <p:nvPr>
            <p:ph type="title"/>
          </p:nvPr>
        </p:nvSpPr>
        <p:spPr>
          <a:xfrm>
            <a:off x="311700" y="-35287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uk" sz="3200" dirty="0"/>
              <a:t>Підсумки </a:t>
            </a:r>
            <a:endParaRPr sz="3200" dirty="0"/>
          </a:p>
        </p:txBody>
      </p:sp>
      <p:sp>
        <p:nvSpPr>
          <p:cNvPr id="142" name="Google Shape;142;p24"/>
          <p:cNvSpPr txBox="1">
            <a:spLocks noGrp="1"/>
          </p:cNvSpPr>
          <p:nvPr>
            <p:ph type="body" idx="1"/>
          </p:nvPr>
        </p:nvSpPr>
        <p:spPr>
          <a:xfrm>
            <a:off x="311700" y="672477"/>
            <a:ext cx="8520600" cy="38616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ru-RU" dirty="0"/>
              <a:t>Розроблена </a:t>
            </a:r>
            <a:r>
              <a:rPr lang="ru-RU" dirty="0" err="1"/>
              <a:t>програмна</a:t>
            </a:r>
            <a:r>
              <a:rPr lang="ru-RU" dirty="0"/>
              <a:t> система «</a:t>
            </a:r>
            <a:r>
              <a:rPr lang="en-US" dirty="0" err="1"/>
              <a:t>ChildSpace</a:t>
            </a:r>
            <a:r>
              <a:rPr lang="en-US" dirty="0"/>
              <a:t>» </a:t>
            </a:r>
            <a:r>
              <a:rPr lang="ru-RU" dirty="0"/>
              <a:t>є </a:t>
            </a:r>
            <a:r>
              <a:rPr lang="ru-RU" dirty="0" err="1"/>
              <a:t>клієнт-серверним</a:t>
            </a:r>
            <a:r>
              <a:rPr lang="ru-RU" dirty="0"/>
              <a:t> </a:t>
            </a:r>
            <a:r>
              <a:rPr lang="ru-RU" dirty="0" err="1"/>
              <a:t>рішенням</a:t>
            </a:r>
            <a:r>
              <a:rPr lang="ru-RU" dirty="0"/>
              <a:t>, готовим до </a:t>
            </a:r>
            <a:r>
              <a:rPr lang="ru-RU" dirty="0" err="1"/>
              <a:t>впровадження</a:t>
            </a:r>
            <a:r>
              <a:rPr lang="ru-RU" dirty="0"/>
              <a:t> у центрах </a:t>
            </a:r>
            <a:r>
              <a:rPr lang="ru-RU" dirty="0" err="1"/>
              <a:t>дитячого</a:t>
            </a:r>
            <a:r>
              <a:rPr lang="ru-RU" dirty="0"/>
              <a:t> </a:t>
            </a:r>
            <a:r>
              <a:rPr lang="ru-RU" dirty="0" err="1"/>
              <a:t>розвитку</a:t>
            </a:r>
            <a:r>
              <a:rPr lang="ru-RU" dirty="0"/>
              <a:t>.</a:t>
            </a:r>
          </a:p>
          <a:p>
            <a:pPr marL="0" lvl="0" indent="0" algn="just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ru-RU" dirty="0"/>
              <a:t>У межах </a:t>
            </a:r>
            <a:r>
              <a:rPr lang="ru-RU" dirty="0" err="1"/>
              <a:t>кваліфікаційної</a:t>
            </a:r>
            <a:r>
              <a:rPr lang="ru-RU" dirty="0"/>
              <a:t> </a:t>
            </a:r>
            <a:r>
              <a:rPr lang="ru-RU" dirty="0" err="1"/>
              <a:t>роботи</a:t>
            </a:r>
            <a:r>
              <a:rPr lang="ru-RU" dirty="0"/>
              <a:t> </a:t>
            </a:r>
            <a:r>
              <a:rPr lang="ru-RU" dirty="0" err="1"/>
              <a:t>повністю</a:t>
            </a:r>
            <a:r>
              <a:rPr lang="ru-RU" dirty="0"/>
              <a:t> </a:t>
            </a:r>
            <a:r>
              <a:rPr lang="ru-RU" dirty="0" err="1"/>
              <a:t>реалізовано</a:t>
            </a:r>
            <a:r>
              <a:rPr lang="ru-RU" dirty="0"/>
              <a:t> </a:t>
            </a:r>
            <a:r>
              <a:rPr lang="ru-RU" dirty="0" err="1"/>
              <a:t>серверну</a:t>
            </a:r>
            <a:r>
              <a:rPr lang="ru-RU" dirty="0"/>
              <a:t> </a:t>
            </a:r>
            <a:r>
              <a:rPr lang="ru-RU" dirty="0" err="1"/>
              <a:t>частину</a:t>
            </a:r>
            <a:r>
              <a:rPr lang="ru-RU" dirty="0"/>
              <a:t> на </a:t>
            </a:r>
            <a:r>
              <a:rPr lang="ru-RU" dirty="0" err="1"/>
              <a:t>базі</a:t>
            </a:r>
            <a:r>
              <a:rPr lang="ru-RU" dirty="0"/>
              <a:t> </a:t>
            </a:r>
            <a:r>
              <a:rPr lang="en-US" dirty="0"/>
              <a:t>ASP.NET Core, </a:t>
            </a:r>
            <a:r>
              <a:rPr lang="ru-RU" dirty="0" err="1"/>
              <a:t>спроєктовано</a:t>
            </a:r>
            <a:r>
              <a:rPr lang="ru-RU" dirty="0"/>
              <a:t> </a:t>
            </a:r>
            <a:r>
              <a:rPr lang="ru-RU" dirty="0" err="1"/>
              <a:t>реляційну</a:t>
            </a:r>
            <a:r>
              <a:rPr lang="ru-RU" dirty="0"/>
              <a:t> базу </a:t>
            </a:r>
            <a:r>
              <a:rPr lang="ru-RU" dirty="0" err="1"/>
              <a:t>даних</a:t>
            </a:r>
            <a:r>
              <a:rPr lang="ru-RU" dirty="0"/>
              <a:t> та </a:t>
            </a:r>
            <a:r>
              <a:rPr lang="ru-RU" dirty="0" err="1"/>
              <a:t>впроваджено</a:t>
            </a:r>
            <a:r>
              <a:rPr lang="ru-RU" dirty="0"/>
              <a:t> </a:t>
            </a:r>
            <a:r>
              <a:rPr lang="ru-RU" dirty="0" err="1"/>
              <a:t>ключові</a:t>
            </a:r>
            <a:r>
              <a:rPr lang="ru-RU" dirty="0"/>
              <a:t> </a:t>
            </a:r>
            <a:r>
              <a:rPr lang="ru-RU" dirty="0" err="1"/>
              <a:t>модулі</a:t>
            </a:r>
            <a:r>
              <a:rPr lang="ru-RU" dirty="0"/>
              <a:t> </a:t>
            </a:r>
            <a:r>
              <a:rPr lang="ru-RU" dirty="0" err="1"/>
              <a:t>мобільного</a:t>
            </a:r>
            <a:r>
              <a:rPr lang="ru-RU" dirty="0"/>
              <a:t> </a:t>
            </a:r>
            <a:r>
              <a:rPr lang="ru-RU" dirty="0" err="1"/>
              <a:t>застосунку</a:t>
            </a:r>
            <a:r>
              <a:rPr lang="ru-RU" dirty="0"/>
              <a:t> для </a:t>
            </a:r>
            <a:r>
              <a:rPr lang="en-US" dirty="0"/>
              <a:t>Android.</a:t>
            </a:r>
          </a:p>
          <a:p>
            <a:pPr marL="0" lvl="0" indent="0" algn="just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ru-RU" dirty="0"/>
              <a:t>Система </a:t>
            </a:r>
            <a:r>
              <a:rPr lang="ru-RU" dirty="0" err="1"/>
              <a:t>забезпечує</a:t>
            </a:r>
            <a:r>
              <a:rPr lang="ru-RU" dirty="0"/>
              <a:t> </a:t>
            </a:r>
            <a:r>
              <a:rPr lang="ru-RU" dirty="0" err="1"/>
              <a:t>централізоване</a:t>
            </a:r>
            <a:r>
              <a:rPr lang="ru-RU" dirty="0"/>
              <a:t> </a:t>
            </a:r>
            <a:r>
              <a:rPr lang="ru-RU" dirty="0" err="1"/>
              <a:t>зберігання</a:t>
            </a:r>
            <a:r>
              <a:rPr lang="ru-RU" dirty="0"/>
              <a:t> </a:t>
            </a:r>
            <a:r>
              <a:rPr lang="ru-RU" dirty="0" err="1"/>
              <a:t>даних</a:t>
            </a:r>
            <a:r>
              <a:rPr lang="ru-RU" dirty="0"/>
              <a:t>, </a:t>
            </a:r>
            <a:r>
              <a:rPr lang="ru-RU" dirty="0" err="1"/>
              <a:t>автоматизацію</a:t>
            </a:r>
            <a:r>
              <a:rPr lang="ru-RU" dirty="0"/>
              <a:t> </a:t>
            </a:r>
            <a:r>
              <a:rPr lang="ru-RU" dirty="0" err="1"/>
              <a:t>розкладу</a:t>
            </a:r>
            <a:r>
              <a:rPr lang="ru-RU" dirty="0"/>
              <a:t> та </a:t>
            </a:r>
            <a:r>
              <a:rPr lang="ru-RU" dirty="0" err="1"/>
              <a:t>безпечну</a:t>
            </a:r>
            <a:r>
              <a:rPr lang="ru-RU" dirty="0"/>
              <a:t> </a:t>
            </a:r>
            <a:r>
              <a:rPr lang="ru-RU" dirty="0" err="1"/>
              <a:t>взаємодію</a:t>
            </a:r>
            <a:r>
              <a:rPr lang="ru-RU" dirty="0"/>
              <a:t> </a:t>
            </a:r>
            <a:r>
              <a:rPr lang="ru-RU" dirty="0" err="1"/>
              <a:t>між</a:t>
            </a:r>
            <a:r>
              <a:rPr lang="ru-RU" dirty="0"/>
              <a:t> </a:t>
            </a:r>
            <a:r>
              <a:rPr lang="ru-RU" dirty="0" err="1"/>
              <a:t>адміністрацією</a:t>
            </a:r>
            <a:r>
              <a:rPr lang="ru-RU" dirty="0"/>
              <a:t>, </a:t>
            </a:r>
            <a:r>
              <a:rPr lang="ru-RU" dirty="0" err="1"/>
              <a:t>викладачами</a:t>
            </a:r>
            <a:r>
              <a:rPr lang="ru-RU" dirty="0"/>
              <a:t> й батьками. </a:t>
            </a:r>
          </a:p>
          <a:p>
            <a:pPr marL="0" lvl="0" indent="0" algn="just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ru-RU" dirty="0" err="1"/>
              <a:t>Подальший</a:t>
            </a:r>
            <a:r>
              <a:rPr lang="ru-RU" dirty="0"/>
              <a:t> </a:t>
            </a:r>
            <a:r>
              <a:rPr lang="ru-RU" dirty="0" err="1"/>
              <a:t>розвиток</a:t>
            </a:r>
            <a:r>
              <a:rPr lang="ru-RU" dirty="0"/>
              <a:t> </a:t>
            </a:r>
            <a:r>
              <a:rPr lang="ru-RU" dirty="0" err="1"/>
              <a:t>системи</a:t>
            </a:r>
            <a:r>
              <a:rPr lang="ru-RU" dirty="0"/>
              <a:t> </a:t>
            </a:r>
            <a:r>
              <a:rPr lang="ru-RU" dirty="0" err="1"/>
              <a:t>можливий</a:t>
            </a:r>
            <a:r>
              <a:rPr lang="ru-RU" dirty="0"/>
              <a:t> шляхом </a:t>
            </a:r>
            <a:r>
              <a:rPr lang="ru-RU" dirty="0" err="1"/>
              <a:t>створення</a:t>
            </a:r>
            <a:r>
              <a:rPr lang="ru-RU" dirty="0"/>
              <a:t> </a:t>
            </a:r>
            <a:r>
              <a:rPr lang="ru-RU" dirty="0" err="1"/>
              <a:t>версії</a:t>
            </a:r>
            <a:r>
              <a:rPr lang="ru-RU" dirty="0"/>
              <a:t> для </a:t>
            </a:r>
            <a:r>
              <a:rPr lang="en-US" dirty="0"/>
              <a:t>iOS, </a:t>
            </a:r>
            <a:r>
              <a:rPr lang="ru-RU" dirty="0" err="1"/>
              <a:t>впровадження</a:t>
            </a:r>
            <a:r>
              <a:rPr lang="ru-RU" dirty="0"/>
              <a:t> модуля </a:t>
            </a:r>
            <a:r>
              <a:rPr lang="ru-RU" dirty="0" err="1"/>
              <a:t>фінансового</a:t>
            </a:r>
            <a:r>
              <a:rPr lang="ru-RU" dirty="0"/>
              <a:t> </a:t>
            </a:r>
            <a:r>
              <a:rPr lang="ru-RU" dirty="0" err="1"/>
              <a:t>обліку</a:t>
            </a:r>
            <a:r>
              <a:rPr lang="ru-RU" dirty="0"/>
              <a:t> та </a:t>
            </a:r>
            <a:r>
              <a:rPr lang="ru-RU" dirty="0" err="1"/>
              <a:t>розширення</a:t>
            </a:r>
            <a:r>
              <a:rPr lang="ru-RU" dirty="0"/>
              <a:t> </a:t>
            </a:r>
            <a:r>
              <a:rPr lang="ru-RU" dirty="0" err="1"/>
              <a:t>функціоналу</a:t>
            </a:r>
            <a:r>
              <a:rPr lang="ru-RU" dirty="0"/>
              <a:t> для </a:t>
            </a:r>
            <a:r>
              <a:rPr lang="ru-RU" dirty="0" err="1"/>
              <a:t>оцінювання</a:t>
            </a:r>
            <a:r>
              <a:rPr lang="ru-RU" dirty="0"/>
              <a:t> </a:t>
            </a:r>
            <a:r>
              <a:rPr lang="ru-RU" dirty="0" err="1"/>
              <a:t>індивідуального</a:t>
            </a:r>
            <a:r>
              <a:rPr lang="ru-RU" dirty="0"/>
              <a:t> </a:t>
            </a:r>
            <a:r>
              <a:rPr lang="ru-RU" dirty="0" err="1"/>
              <a:t>прогресу</a:t>
            </a:r>
            <a:r>
              <a:rPr lang="ru-RU" dirty="0"/>
              <a:t> </a:t>
            </a:r>
            <a:r>
              <a:rPr lang="ru-RU" dirty="0" err="1"/>
              <a:t>дітей</a:t>
            </a:r>
            <a:r>
              <a:rPr lang="ru-RU" dirty="0"/>
              <a:t>.</a:t>
            </a:r>
          </a:p>
        </p:txBody>
      </p:sp>
      <p:pic>
        <p:nvPicPr>
          <p:cNvPr id="143" name="Google Shape;143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B5B94D8-63F6-7EAC-6461-2DB4B135596F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17</a:t>
            </a:fld>
            <a:endParaRPr lang="uk-UA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Шаблон презентації кваліфікаційної роботи магістрів">
  <a:themeElements>
    <a:clrScheme name="Luxe">
      <a:dk1>
        <a:srgbClr val="000000"/>
      </a:dk1>
      <a:lt1>
        <a:srgbClr val="FFFFFF"/>
      </a:lt1>
      <a:dk2>
        <a:srgbClr val="B7B7B7"/>
      </a:dk2>
      <a:lt2>
        <a:srgbClr val="CCA677"/>
      </a:lt2>
      <a:accent1>
        <a:srgbClr val="5D4037"/>
      </a:accent1>
      <a:accent2>
        <a:srgbClr val="455A64"/>
      </a:accent2>
      <a:accent3>
        <a:srgbClr val="57BB8A"/>
      </a:accent3>
      <a:accent4>
        <a:srgbClr val="78909C"/>
      </a:accent4>
      <a:accent5>
        <a:srgbClr val="607D8B"/>
      </a:accent5>
      <a:accent6>
        <a:srgbClr val="DCE755"/>
      </a:accent6>
      <a:hlink>
        <a:srgbClr val="607D8B"/>
      </a:hlink>
      <a:folHlink>
        <a:srgbClr val="607D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Шаблон презентації кваліфікаційної роботи магістрів" id="{72E840FA-3155-46C9-BB37-701E4C9B1C67}" vid="{DC416FE5-D050-4603-AD75-8F49A0CCCB6A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1409</TotalTime>
  <Words>727</Words>
  <Application>Microsoft Office PowerPoint</Application>
  <PresentationFormat>Экран (16:9)</PresentationFormat>
  <Paragraphs>83</Paragraphs>
  <Slides>17</Slides>
  <Notes>17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17</vt:i4>
      </vt:variant>
    </vt:vector>
  </HeadingPairs>
  <TitlesOfParts>
    <vt:vector size="21" baseType="lpstr">
      <vt:lpstr>Economica</vt:lpstr>
      <vt:lpstr>Arial</vt:lpstr>
      <vt:lpstr>Open Sans</vt:lpstr>
      <vt:lpstr>Шаблон презентації кваліфікаційної роботи магістрів</vt:lpstr>
      <vt:lpstr>Програмна система для центру дитячого розвитку. Веб-застосунок та мобільний додаток для Android. Бекенд</vt:lpstr>
      <vt:lpstr>Мета роботи</vt:lpstr>
      <vt:lpstr>Аналіз проблеми. Аналоги системи</vt:lpstr>
      <vt:lpstr>Аналіз проблеми. Аналіз недоліків</vt:lpstr>
      <vt:lpstr>Постановка задачі та опис системи</vt:lpstr>
      <vt:lpstr>Проєктування програмного забезпечення</vt:lpstr>
      <vt:lpstr>Вибір технологій розробки </vt:lpstr>
      <vt:lpstr>Архітектура створеного програмного забезпечення</vt:lpstr>
      <vt:lpstr>Архітектура створеного програмного забезпечення. Серверна частина</vt:lpstr>
      <vt:lpstr>Структура бази даних</vt:lpstr>
      <vt:lpstr>Опис програмного забезпечення, що було використано</vt:lpstr>
      <vt:lpstr>Приклад реалізації</vt:lpstr>
      <vt:lpstr>Приклад реалізації</vt:lpstr>
      <vt:lpstr>Інтерфейс користувача. Серверна частина</vt:lpstr>
      <vt:lpstr>Інтерфейс користувача. Мобільний застосунок</vt:lpstr>
      <vt:lpstr>Тестування</vt:lpstr>
      <vt:lpstr>Підсумки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Тема роботи</dc:title>
  <dc:creator>Lexin</dc:creator>
  <cp:lastModifiedBy>lenazozula05@gmail.com</cp:lastModifiedBy>
  <cp:revision>63</cp:revision>
  <dcterms:created xsi:type="dcterms:W3CDTF">2024-10-03T11:39:34Z</dcterms:created>
  <dcterms:modified xsi:type="dcterms:W3CDTF">2026-07-05T14:42:35Z</dcterms:modified>
</cp:coreProperties>
</file>